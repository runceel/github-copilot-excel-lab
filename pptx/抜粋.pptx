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  <p:sldMasterId id="2147483743" r:id="rId2"/>
  </p:sldMasterIdLst>
  <p:notesMasterIdLst>
    <p:notesMasterId r:id="rId4"/>
  </p:notesMasterIdLst>
  <p:handoutMasterIdLst>
    <p:handoutMasterId r:id="rId5"/>
  </p:handoutMasterIdLst>
  <p:sldIdLst>
    <p:sldId id="1698" r:id="rId3"/>
  </p:sldIdLst>
  <p:sldSz cx="9144000" cy="6858000" type="screen4x3"/>
  <p:notesSz cx="6807200" cy="99393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E5FFE5"/>
    <a:srgbClr val="FFE7FF"/>
    <a:srgbClr val="EFFFFF"/>
    <a:srgbClr val="FFEBFF"/>
    <a:srgbClr val="FFCCFF"/>
    <a:srgbClr val="DEC8EE"/>
    <a:srgbClr val="CCFFCC"/>
    <a:srgbClr val="E8D9F3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3" autoAdjust="0"/>
    <p:restoredTop sz="96210" autoAdjust="0"/>
  </p:normalViewPr>
  <p:slideViewPr>
    <p:cSldViewPr>
      <p:cViewPr varScale="1">
        <p:scale>
          <a:sx n="84" d="100"/>
          <a:sy n="84" d="100"/>
        </p:scale>
        <p:origin x="225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870"/>
    </p:cViewPr>
  </p:sorterViewPr>
  <p:notesViewPr>
    <p:cSldViewPr>
      <p:cViewPr>
        <p:scale>
          <a:sx n="100" d="100"/>
          <a:sy n="100" d="100"/>
        </p:scale>
        <p:origin x="1140" y="72"/>
      </p:cViewPr>
      <p:guideLst>
        <p:guide orient="horz" pos="3130"/>
        <p:guide pos="2143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7" name="Rectangle 9"/>
          <p:cNvSpPr>
            <a:spLocks noChangeArrowheads="1"/>
          </p:cNvSpPr>
          <p:nvPr/>
        </p:nvSpPr>
        <p:spPr bwMode="auto">
          <a:xfrm>
            <a:off x="170582" y="283391"/>
            <a:ext cx="6494738" cy="2451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290" tIns="46646" rIns="93290" bIns="46646" anchor="ctr"/>
          <a:lstStyle>
            <a:lvl1pPr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46672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93027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39700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186055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3177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7749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2321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6893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defRPr/>
            </a:pPr>
            <a:endParaRPr lang="ja-JP" altLang="en-US" sz="1500">
              <a:latin typeface="Arial" panose="020B0604020202020204" pitchFamily="34" charset="0"/>
            </a:endParaRPr>
          </a:p>
        </p:txBody>
      </p:sp>
      <p:sp>
        <p:nvSpPr>
          <p:cNvPr id="114698" name="Text Box 10"/>
          <p:cNvSpPr txBox="1">
            <a:spLocks noChangeArrowheads="1"/>
          </p:cNvSpPr>
          <p:nvPr/>
        </p:nvSpPr>
        <p:spPr bwMode="auto">
          <a:xfrm>
            <a:off x="243914" y="132147"/>
            <a:ext cx="4574234" cy="278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290" tIns="46646" rIns="93290" bIns="46646">
            <a:spAutoFit/>
          </a:bodyPr>
          <a:lstStyle>
            <a:lvl1pPr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46672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93027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39700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186055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3177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7749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2321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6893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>
              <a:defRPr/>
            </a:pPr>
            <a:r>
              <a:rPr kumimoji="0" lang="en-US" altLang="ja-JP" sz="12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Azure </a:t>
            </a:r>
            <a:r>
              <a:rPr kumimoji="0" lang="ja-JP" altLang="en-US" sz="12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仮想ネットワーク 閉域構成リファレンスアーキテクチャ</a:t>
            </a:r>
          </a:p>
        </p:txBody>
      </p:sp>
      <p:sp>
        <p:nvSpPr>
          <p:cNvPr id="114699" name="Text Box 11"/>
          <p:cNvSpPr txBox="1">
            <a:spLocks noChangeArrowheads="1"/>
          </p:cNvSpPr>
          <p:nvPr/>
        </p:nvSpPr>
        <p:spPr bwMode="auto">
          <a:xfrm>
            <a:off x="3" y="9686199"/>
            <a:ext cx="6835895" cy="278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297" tIns="46648" rIns="93297" bIns="46648">
            <a:spAutoFit/>
          </a:bodyPr>
          <a:lstStyle>
            <a:lvl1pPr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46672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93027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39700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186055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3177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7749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2321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6893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12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－</a:t>
            </a:r>
            <a:fld id="{F0CDD24D-ECB3-4185-88CC-6E56A6F3809F}" type="slidenum">
              <a:rPr lang="en-US" altLang="ja-JP" sz="12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ja-JP" altLang="en-US" sz="12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－</a:t>
            </a:r>
          </a:p>
        </p:txBody>
      </p:sp>
      <p:sp>
        <p:nvSpPr>
          <p:cNvPr id="4101" name="Line 13"/>
          <p:cNvSpPr>
            <a:spLocks noChangeShapeType="1"/>
          </p:cNvSpPr>
          <p:nvPr/>
        </p:nvSpPr>
        <p:spPr bwMode="auto">
          <a:xfrm>
            <a:off x="140292" y="9286586"/>
            <a:ext cx="661749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704" tIns="45852" rIns="91704" bIns="45852"/>
          <a:lstStyle/>
          <a:p>
            <a:endParaRPr lang="ja-JP" altLang="en-US"/>
          </a:p>
        </p:txBody>
      </p:sp>
      <p:sp>
        <p:nvSpPr>
          <p:cNvPr id="4102" name="Line 14"/>
          <p:cNvSpPr>
            <a:spLocks noChangeShapeType="1"/>
          </p:cNvSpPr>
          <p:nvPr/>
        </p:nvSpPr>
        <p:spPr bwMode="auto">
          <a:xfrm>
            <a:off x="140292" y="9351861"/>
            <a:ext cx="661749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704" tIns="45852" rIns="91704" bIns="45852"/>
          <a:lstStyle/>
          <a:p>
            <a:endParaRPr lang="ja-JP" altLang="en-US"/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3670352" y="9407587"/>
            <a:ext cx="3112936" cy="34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07" tIns="46804" rIns="93607" bIns="46804">
            <a:spAutoFit/>
          </a:bodyPr>
          <a:lstStyle>
            <a:lvl1pPr algn="l" defTabSz="933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468313" algn="l" defTabSz="933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933450" algn="l" defTabSz="933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401763" algn="l" defTabSz="933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1866900" algn="l" defTabSz="933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324100" defTabSz="9334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781300" defTabSz="9334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238500" defTabSz="9334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695700" defTabSz="9334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r"/>
            <a:r>
              <a:rPr lang="en-US" altLang="ja-JP" sz="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Azure </a:t>
            </a:r>
            <a:r>
              <a:rPr lang="ja-JP" altLang="en-US" sz="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仮想ネットワーク 閉域構成リファレンスアーキテクチャ</a:t>
            </a:r>
            <a:endParaRPr lang="en-US" altLang="ja-JP" sz="8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r"/>
            <a:r>
              <a:rPr lang="en-US" altLang="ja-JP" sz="800">
                <a:latin typeface="Arial" panose="020B0604020202020204" pitchFamily="34" charset="0"/>
              </a:rPr>
              <a:t>©</a:t>
            </a:r>
            <a:r>
              <a:rPr lang="en-US" altLang="ja-JP" sz="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2018 Microsoft Corporation. All rights reserved.</a:t>
            </a:r>
          </a:p>
        </p:txBody>
      </p:sp>
      <p:pic>
        <p:nvPicPr>
          <p:cNvPr id="10" name="Picture 2" descr="MSFT_logo_rgb_B-Bl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2" t="23985" r="9888" b="20633"/>
          <a:stretch>
            <a:fillRect/>
          </a:stretch>
        </p:blipFill>
        <p:spPr bwMode="auto">
          <a:xfrm>
            <a:off x="245508" y="9468396"/>
            <a:ext cx="1077962" cy="27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4515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70462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720" y="4722100"/>
            <a:ext cx="5445760" cy="447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92" tIns="46248" rIns="92492" bIns="462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8619" name="Rectangle 11"/>
          <p:cNvSpPr>
            <a:spLocks noChangeArrowheads="1"/>
          </p:cNvSpPr>
          <p:nvPr/>
        </p:nvSpPr>
        <p:spPr bwMode="auto">
          <a:xfrm>
            <a:off x="170582" y="283391"/>
            <a:ext cx="6494738" cy="2451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290" tIns="46646" rIns="93290" bIns="46646" anchor="ctr"/>
          <a:lstStyle>
            <a:lvl1pPr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46672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93027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39700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186055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3177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7749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2321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6893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defRPr/>
            </a:pPr>
            <a:endParaRPr lang="ja-JP" altLang="en-US" sz="1500">
              <a:latin typeface="Arial" panose="020B0604020202020204" pitchFamily="34" charset="0"/>
            </a:endParaRPr>
          </a:p>
        </p:txBody>
      </p:sp>
      <p:sp>
        <p:nvSpPr>
          <p:cNvPr id="68621" name="Text Box 13"/>
          <p:cNvSpPr txBox="1">
            <a:spLocks noChangeArrowheads="1"/>
          </p:cNvSpPr>
          <p:nvPr/>
        </p:nvSpPr>
        <p:spPr bwMode="auto">
          <a:xfrm>
            <a:off x="3" y="9686199"/>
            <a:ext cx="6835895" cy="278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297" tIns="46648" rIns="93297" bIns="46648">
            <a:spAutoFit/>
          </a:bodyPr>
          <a:lstStyle>
            <a:lvl1pPr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46672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93027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39700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186055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3177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7749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2321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6893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12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－</a:t>
            </a:r>
            <a:fld id="{A1B10109-58CC-4905-892F-9FFB25A6C8BF}" type="slidenum">
              <a:rPr lang="en-US" altLang="ja-JP" sz="1200" smtClean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ja-JP" altLang="en-US" sz="12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－</a:t>
            </a:r>
          </a:p>
        </p:txBody>
      </p:sp>
      <p:sp>
        <p:nvSpPr>
          <p:cNvPr id="3078" name="Line 15"/>
          <p:cNvSpPr>
            <a:spLocks noChangeShapeType="1"/>
          </p:cNvSpPr>
          <p:nvPr/>
        </p:nvSpPr>
        <p:spPr bwMode="auto">
          <a:xfrm>
            <a:off x="140292" y="9286586"/>
            <a:ext cx="661749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704" tIns="45852" rIns="91704" bIns="45852"/>
          <a:lstStyle/>
          <a:p>
            <a:endParaRPr lang="ja-JP" altLang="en-US"/>
          </a:p>
        </p:txBody>
      </p:sp>
      <p:sp>
        <p:nvSpPr>
          <p:cNvPr id="3079" name="Line 16"/>
          <p:cNvSpPr>
            <a:spLocks noChangeShapeType="1"/>
          </p:cNvSpPr>
          <p:nvPr/>
        </p:nvSpPr>
        <p:spPr bwMode="auto">
          <a:xfrm>
            <a:off x="140292" y="9351861"/>
            <a:ext cx="661749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704" tIns="45852" rIns="91704" bIns="45852"/>
          <a:lstStyle/>
          <a:p>
            <a:endParaRPr lang="ja-JP" altLang="en-US"/>
          </a:p>
        </p:txBody>
      </p:sp>
      <p:sp>
        <p:nvSpPr>
          <p:cNvPr id="68629" name="Text Box 21"/>
          <p:cNvSpPr txBox="1">
            <a:spLocks noChangeArrowheads="1"/>
          </p:cNvSpPr>
          <p:nvPr/>
        </p:nvSpPr>
        <p:spPr bwMode="auto">
          <a:xfrm>
            <a:off x="243914" y="132147"/>
            <a:ext cx="3727849" cy="278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290" tIns="46646" rIns="93290" bIns="46646">
            <a:spAutoFit/>
          </a:bodyPr>
          <a:lstStyle>
            <a:lvl1pPr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46672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930275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39700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1860550" algn="l" defTabSz="9302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3177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7749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2321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689350" defTabSz="930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>
              <a:defRPr/>
            </a:pPr>
            <a:r>
              <a:rPr kumimoji="0" lang="en-US" altLang="ja-JP" sz="12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#411 SQL Server &amp; ADO.NET </a:t>
            </a:r>
            <a:r>
              <a:rPr kumimoji="0" lang="ja-JP" altLang="en-US" sz="12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トランザクション処理</a:t>
            </a: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2056129" y="9407587"/>
            <a:ext cx="4727160" cy="34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07" tIns="46804" rIns="93607" bIns="46804">
            <a:spAutoFit/>
          </a:bodyPr>
          <a:lstStyle>
            <a:lvl1pPr algn="l" defTabSz="933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468313" algn="l" defTabSz="933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933450" algn="l" defTabSz="933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401763" algn="l" defTabSz="933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1866900" algn="l" defTabSz="933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324100" defTabSz="9334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781300" defTabSz="9334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238500" defTabSz="9334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695700" defTabSz="9334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r"/>
            <a:r>
              <a:rPr lang="en-US" altLang="ja-JP" sz="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MCS Visual Studio Workshop </a:t>
            </a:r>
            <a:r>
              <a:rPr lang="ja-JP" altLang="en-US" sz="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－ </a:t>
            </a:r>
            <a:r>
              <a:rPr lang="en-US" altLang="ja-JP" sz="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#407 Web Application System Infrastructure</a:t>
            </a:r>
          </a:p>
          <a:p>
            <a:pPr algn="r"/>
            <a:r>
              <a:rPr lang="en-US" altLang="ja-JP" sz="800">
                <a:latin typeface="Arial" panose="020B0604020202020204" pitchFamily="34" charset="0"/>
              </a:rPr>
              <a:t>©</a:t>
            </a:r>
            <a:r>
              <a:rPr lang="en-US" altLang="ja-JP" sz="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2015 Microsoft Corporation. All rights reserved. / Microsoft Consulting Services Japan</a:t>
            </a:r>
          </a:p>
        </p:txBody>
      </p:sp>
      <p:pic>
        <p:nvPicPr>
          <p:cNvPr id="12" name="Picture 2" descr="MSFT_logo_rgb_B-Bl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2" t="23985" r="9888" b="20633"/>
          <a:stretch>
            <a:fillRect/>
          </a:stretch>
        </p:blipFill>
        <p:spPr bwMode="auto">
          <a:xfrm>
            <a:off x="245508" y="9468396"/>
            <a:ext cx="1077962" cy="27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35607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anose="02020600040205080304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anose="02020600040205080304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anose="02020600040205080304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anose="02020600040205080304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anose="02020600040205080304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/>
              <a:endParaRPr kumimoji="0" lang="ja-JP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l" eaLnBrk="1" hangingPunct="1"/>
              <a:endParaRPr kumimoji="0" lang="ja-JP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algn="l" eaLnBrk="1" hangingPunct="1"/>
                <a:endParaRPr kumimoji="0" lang="ja-JP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algn="l" eaLnBrk="1" hangingPunct="1"/>
                <a:endParaRPr kumimoji="0" lang="ja-JP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algn="l" eaLnBrk="1" hangingPunct="1"/>
                <a:endParaRPr kumimoji="0" lang="ja-JP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algn="l" eaLnBrk="1" hangingPunct="1"/>
                <a:endParaRPr kumimoji="0" lang="ja-JP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algn="l" eaLnBrk="1" hangingPunct="1"/>
                <a:endParaRPr kumimoji="0" lang="ja-JP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algn="l" eaLnBrk="1" hangingPunct="1"/>
                <a:endParaRPr kumimoji="0" lang="ja-JP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algn="l" eaLnBrk="1" hangingPunct="1"/>
                <a:endParaRPr kumimoji="0" lang="ja-JP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algn="l" eaLnBrk="1" hangingPunct="1"/>
                <a:endParaRPr kumimoji="0" lang="ja-JP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algn="l" eaLnBrk="1" hangingPunct="1"/>
                <a:endParaRPr kumimoji="0" lang="ja-JP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algn="ctr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algn="l" eaLnBrk="1" hangingPunct="1"/>
                <a:endParaRPr kumimoji="0" lang="ja-JP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665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2600">
                <a:solidFill>
                  <a:srgbClr val="FFFFFF"/>
                </a:solidFill>
              </a:defRPr>
            </a:lvl1pPr>
          </a:lstStyle>
          <a:p>
            <a:pPr lvl="0"/>
            <a:r>
              <a:rPr lang="ja-JP" altLang="en-US" noProof="0"/>
              <a:t>マスタ タイトルの書式設定</a:t>
            </a:r>
          </a:p>
        </p:txBody>
      </p:sp>
      <p:sp>
        <p:nvSpPr>
          <p:cNvPr id="665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ja-JP" altLang="en-US" noProof="0"/>
              <a:t>マスタ サブタイトルの書式設定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200" smtClean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 smtClean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09EFECE7-3DE9-4632-A902-6A9356DF082C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21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57580" y="479425"/>
            <a:ext cx="1828800" cy="39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16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21065"/>
            <a:ext cx="8229600" cy="451450"/>
          </a:xfrm>
        </p:spPr>
        <p:txBody>
          <a:bodyPr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124681"/>
            <a:ext cx="8229600" cy="547296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500"/>
            </a:lvl3pPr>
            <a:lvl4pPr>
              <a:defRPr sz="1400"/>
            </a:lvl4pPr>
            <a:lvl5pPr>
              <a:defRPr sz="13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cxnSp>
        <p:nvCxnSpPr>
          <p:cNvPr id="6" name="直線コネクタ 5"/>
          <p:cNvCxnSpPr/>
          <p:nvPr userDrawn="1"/>
        </p:nvCxnSpPr>
        <p:spPr bwMode="auto">
          <a:xfrm>
            <a:off x="457200" y="972515"/>
            <a:ext cx="82296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3047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4479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700213"/>
            <a:ext cx="4038600" cy="48974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4038600" cy="48974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1412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3596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298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33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9646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9009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95985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614045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6140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03716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01976" y="1196743"/>
            <a:ext cx="6723139" cy="1793090"/>
          </a:xfrm>
          <a:noFill/>
        </p:spPr>
        <p:txBody>
          <a:bodyPr lIns="146304" tIns="91440" rIns="146304" bIns="91440" anchor="t" anchorCtr="0"/>
          <a:lstStyle>
            <a:lvl1pPr>
              <a:defRPr sz="3971" spc="-74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01976" y="2991130"/>
            <a:ext cx="5378503" cy="1792326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2353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646494"/>
            <a:ext cx="9143533" cy="1211506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4" tIns="107571" rIns="134464" bIns="1075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59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76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9894" y="6087890"/>
            <a:ext cx="1070841" cy="30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11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01930" y="1189177"/>
            <a:ext cx="8741309" cy="1746440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168090" indent="0">
              <a:buNone/>
              <a:defRPr/>
            </a:lvl2pPr>
            <a:lvl3pPr marL="336179" indent="0">
              <a:buNone/>
              <a:defRPr/>
            </a:lvl3pPr>
            <a:lvl4pPr marL="504269" indent="0">
              <a:buNone/>
              <a:defRPr/>
            </a:lvl4pPr>
            <a:lvl5pPr marL="672358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7942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01977" y="1187644"/>
            <a:ext cx="8741309" cy="174644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7653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01930" y="1187644"/>
            <a:ext cx="4033911" cy="1610697"/>
          </a:xfrm>
        </p:spPr>
        <p:txBody>
          <a:bodyPr wrap="square">
            <a:spAutoFit/>
          </a:bodyPr>
          <a:lstStyle>
            <a:lvl1pPr marL="0" indent="0">
              <a:spcBef>
                <a:spcPts val="90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206" b="0">
                <a:latin typeface="+mn-lt"/>
              </a:defRPr>
            </a:lvl1pPr>
            <a:lvl2pPr marL="187934" indent="0">
              <a:buFont typeface="Wingdings" panose="05000000000000000000" pitchFamily="2" charset="2"/>
              <a:buNone/>
              <a:defRPr sz="1765" b="0"/>
            </a:lvl2pPr>
            <a:lvl3pPr marL="331510" indent="0">
              <a:buFont typeface="Wingdings" panose="05000000000000000000" pitchFamily="2" charset="2"/>
              <a:buNone/>
              <a:tabLst/>
              <a:defRPr sz="1618" b="0"/>
            </a:lvl3pPr>
            <a:lvl4pPr marL="479755" indent="0">
              <a:buFont typeface="Wingdings" panose="05000000000000000000" pitchFamily="2" charset="2"/>
              <a:buNone/>
              <a:defRPr sz="1618" b="0"/>
            </a:lvl4pPr>
            <a:lvl5pPr marL="628001" indent="0">
              <a:buFont typeface="Wingdings" panose="05000000000000000000" pitchFamily="2" charset="2"/>
              <a:buNone/>
              <a:tabLst/>
              <a:defRPr sz="1618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08161" y="1187645"/>
            <a:ext cx="4033911" cy="1610697"/>
          </a:xfrm>
        </p:spPr>
        <p:txBody>
          <a:bodyPr wrap="square">
            <a:spAutoFit/>
          </a:bodyPr>
          <a:lstStyle>
            <a:lvl1pPr marL="0" indent="0">
              <a:spcBef>
                <a:spcPts val="900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2206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187934" indent="0">
              <a:buFont typeface="Arial" panose="020B0604020202020204" pitchFamily="34" charset="0"/>
              <a:buNone/>
              <a:defRPr lang="en-US" sz="1765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331510" indent="0">
              <a:buFont typeface="Arial" panose="020B0604020202020204" pitchFamily="34" charset="0"/>
              <a:buNone/>
              <a:tabLst/>
              <a:defRPr lang="en-US" sz="1618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79755" indent="0">
              <a:buFont typeface="Arial" panose="020B0604020202020204" pitchFamily="34" charset="0"/>
              <a:buNone/>
              <a:defRPr lang="en-US" sz="1618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28001" indent="0">
              <a:buFont typeface="Arial" panose="020B0604020202020204" pitchFamily="34" charset="0"/>
              <a:buNone/>
              <a:tabLst/>
              <a:defRPr lang="en-US" sz="1618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378202" marR="0" lvl="0" indent="-378202" algn="l" defTabSz="685845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 dirty="0"/>
              <a:t>Click to edit Master text styles</a:t>
            </a:r>
          </a:p>
          <a:p>
            <a:pPr marL="524113" marR="0" lvl="1" indent="-336179" algn="l" defTabSz="685845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Second level</a:t>
            </a:r>
          </a:p>
          <a:p>
            <a:pPr marL="667689" marR="0" lvl="2" indent="-336179" algn="l" defTabSz="685845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Third level</a:t>
            </a:r>
          </a:p>
          <a:p>
            <a:pPr marL="815934" marR="0" lvl="3" indent="-336179" algn="l" defTabSz="685845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Fourth level</a:t>
            </a:r>
          </a:p>
          <a:p>
            <a:pPr marL="964181" marR="0" lvl="4" indent="-336179" algn="l" defTabSz="685845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556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01930" y="1187644"/>
            <a:ext cx="4033911" cy="1610697"/>
          </a:xfrm>
        </p:spPr>
        <p:txBody>
          <a:bodyPr wrap="square">
            <a:spAutoFit/>
          </a:bodyPr>
          <a:lstStyle>
            <a:lvl1pPr marL="170424" indent="-170424">
              <a:spcBef>
                <a:spcPts val="900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206" b="0">
                <a:latin typeface="+mn-lt"/>
              </a:defRPr>
            </a:lvl1pPr>
            <a:lvl2pPr marL="314001" indent="-126067">
              <a:buFont typeface="Wingdings" panose="05000000000000000000" pitchFamily="2" charset="2"/>
              <a:buChar char=""/>
              <a:defRPr sz="1765" b="0"/>
            </a:lvl2pPr>
            <a:lvl3pPr marL="470418" indent="-138908">
              <a:buFont typeface="Wingdings" panose="05000000000000000000" pitchFamily="2" charset="2"/>
              <a:buChar char=""/>
              <a:tabLst/>
              <a:defRPr sz="1618" b="0"/>
            </a:lvl3pPr>
            <a:lvl4pPr marL="609325" indent="-129569">
              <a:buFont typeface="Wingdings" panose="05000000000000000000" pitchFamily="2" charset="2"/>
              <a:buChar char=""/>
              <a:defRPr sz="1618" b="0"/>
            </a:lvl4pPr>
            <a:lvl5pPr marL="752902" indent="-124900">
              <a:buFont typeface="Wingdings" panose="05000000000000000000" pitchFamily="2" charset="2"/>
              <a:buChar char=""/>
              <a:tabLst/>
              <a:defRPr sz="1618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08161" y="1187645"/>
            <a:ext cx="4033911" cy="1610697"/>
          </a:xfrm>
        </p:spPr>
        <p:txBody>
          <a:bodyPr wrap="square">
            <a:spAutoFit/>
          </a:bodyPr>
          <a:lstStyle>
            <a:lvl1pPr marL="211280" indent="-211280">
              <a:spcBef>
                <a:spcPts val="900"/>
              </a:spcBef>
              <a:buClr>
                <a:schemeClr val="tx1"/>
              </a:buClr>
              <a:buFont typeface="Arial" pitchFamily="34" charset="0"/>
              <a:buChar char="•"/>
              <a:defRPr lang="en-US" sz="2206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440068" indent="-252134">
              <a:defRPr lang="en-US" sz="1765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583644" indent="-252134">
              <a:tabLst/>
              <a:defRPr lang="en-US" sz="1618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731890" indent="-252134">
              <a:defRPr lang="en-US" sz="1618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80136" indent="-252134">
              <a:tabLst/>
              <a:defRPr lang="en-US" sz="1618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170424" marR="0" lvl="0" indent="-170424" algn="l" defTabSz="685845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Click to edit Master text styles</a:t>
            </a:r>
          </a:p>
          <a:p>
            <a:pPr marL="314001" marR="0" lvl="1" indent="-126067" algn="l" defTabSz="685845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Second level</a:t>
            </a:r>
          </a:p>
          <a:p>
            <a:pPr marL="470418" marR="0" lvl="2" indent="-138908" algn="l" defTabSz="685845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Third level</a:t>
            </a:r>
          </a:p>
          <a:p>
            <a:pPr marL="609325" marR="0" lvl="3" indent="-129569" algn="l" defTabSz="685845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Fourth level</a:t>
            </a:r>
          </a:p>
          <a:p>
            <a:pPr marL="752902" marR="0" lvl="4" indent="-124900" algn="l" defTabSz="685845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2401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1892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01929" y="1406078"/>
            <a:ext cx="4033912" cy="1791549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1765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1765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685845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4571999" y="4773828"/>
            <a:ext cx="4371811" cy="1793104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34464" tIns="107571" rIns="134464" bIns="107571" numCol="1" rtlCol="0" anchor="ctr" anchorCtr="0" compatLnSpc="1">
            <a:prstTxWarp prst="textNoShape">
              <a:avLst/>
            </a:prstTxWarp>
          </a:bodyPr>
          <a:lstStyle/>
          <a:p>
            <a:pPr algn="ctr" defTabSz="685647" fontAlgn="base">
              <a:spcBef>
                <a:spcPct val="0"/>
              </a:spcBef>
              <a:spcAft>
                <a:spcPct val="0"/>
              </a:spcAft>
            </a:pPr>
            <a:endParaRPr lang="en-US" sz="1471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4572000" y="1406078"/>
            <a:ext cx="4370072" cy="3366196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1765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1765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685845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403921" y="1801029"/>
            <a:ext cx="0" cy="4662019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01929" y="3197079"/>
            <a:ext cx="4033912" cy="3369853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1765">
                <a:latin typeface="+mn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572000" y="4773828"/>
            <a:ext cx="4370071" cy="1791549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2353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0515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1929" y="2084186"/>
            <a:ext cx="7394337" cy="917880"/>
          </a:xfrm>
          <a:noFill/>
        </p:spPr>
        <p:txBody>
          <a:bodyPr tIns="91440" bIns="91440" anchor="t" anchorCtr="0">
            <a:spAutoFit/>
          </a:bodyPr>
          <a:lstStyle>
            <a:lvl1pPr>
              <a:defRPr sz="5294" spc="-74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01930" y="3877277"/>
            <a:ext cx="7395505" cy="62132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2353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208331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1930" y="2084186"/>
            <a:ext cx="7394337" cy="917880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5294" b="0" kern="1200" cap="none" spc="-74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265152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1929" y="2084172"/>
            <a:ext cx="8740142" cy="917880"/>
          </a:xfrm>
          <a:noFill/>
        </p:spPr>
        <p:txBody>
          <a:bodyPr tIns="91440" bIns="91440" anchor="t" anchorCtr="0">
            <a:spAutoFit/>
          </a:bodyPr>
          <a:lstStyle>
            <a:lvl1pPr>
              <a:defRPr sz="5294" spc="-74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729499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1929" y="2084172"/>
            <a:ext cx="8740142" cy="917880"/>
          </a:xfrm>
          <a:noFill/>
        </p:spPr>
        <p:txBody>
          <a:bodyPr tIns="91440" bIns="91440" anchor="t" anchorCtr="0">
            <a:spAutoFit/>
          </a:bodyPr>
          <a:lstStyle>
            <a:lvl1pPr>
              <a:defRPr sz="5294" spc="-74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41955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1930" y="2847879"/>
            <a:ext cx="3596905" cy="1162241"/>
          </a:xfrm>
        </p:spPr>
        <p:txBody>
          <a:bodyPr wrap="square" anchor="ctr">
            <a:spAutoFit/>
          </a:bodyPr>
          <a:lstStyle>
            <a:lvl1pPr>
              <a:defRPr sz="3529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6" name="Picture Placeholder 4"/>
          <p:cNvSpPr>
            <a:spLocks noGrp="1" noChangeAspect="1"/>
          </p:cNvSpPr>
          <p:nvPr>
            <p:ph type="pic" sz="quarter" idx="10"/>
          </p:nvPr>
        </p:nvSpPr>
        <p:spPr bwMode="ltGray">
          <a:xfrm>
            <a:off x="4000763" y="0"/>
            <a:ext cx="5143237" cy="68561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176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7598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227" y="289511"/>
            <a:ext cx="5178583" cy="899665"/>
          </a:xfrm>
        </p:spPr>
        <p:txBody>
          <a:bodyPr/>
          <a:lstStyle>
            <a:lvl1pPr>
              <a:defRPr sz="294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65227" y="4773828"/>
            <a:ext cx="5178012" cy="1793104"/>
          </a:xfrm>
        </p:spPr>
        <p:txBody>
          <a:bodyPr wrap="square">
            <a:noAutofit/>
          </a:bodyPr>
          <a:lstStyle>
            <a:lvl1pPr marL="0" indent="0">
              <a:spcBef>
                <a:spcPts val="1324"/>
              </a:spcBef>
              <a:buNone/>
              <a:defRPr sz="1471">
                <a:latin typeface="+mn-lt"/>
              </a:defRPr>
            </a:lvl1pPr>
            <a:lvl2pPr marL="168090" indent="0">
              <a:buNone/>
              <a:defRPr/>
            </a:lvl2pPr>
            <a:lvl3pPr marL="336179" indent="0">
              <a:buNone/>
              <a:defRPr/>
            </a:lvl3pPr>
            <a:lvl4pPr marL="504269" indent="0">
              <a:buNone/>
              <a:defRPr/>
            </a:lvl4pPr>
            <a:lvl5pPr marL="672358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5" name="Picture 4" descr="Image of Ignite app on a Windows Device." title="Ignite event image">
            <a:extLst>
              <a:ext uri="{FF2B5EF4-FFF2-40B4-BE49-F238E27FC236}">
                <a16:creationId xmlns:a16="http://schemas.microsoft.com/office/drawing/2014/main" id="{E803C22C-E970-4ADA-A60C-5127C1C2C1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119" r="5881"/>
          <a:stretch/>
        </p:blipFill>
        <p:spPr>
          <a:xfrm>
            <a:off x="0" y="-1"/>
            <a:ext cx="3621650" cy="68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623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078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740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189176"/>
            <a:ext cx="9144000" cy="5668824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2" tIns="34292" rIns="34292" bIns="342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647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01930" y="1197322"/>
            <a:ext cx="8740141" cy="1715791"/>
          </a:xfrm>
        </p:spPr>
        <p:txBody>
          <a:bodyPr/>
          <a:lstStyle>
            <a:lvl1pPr marL="0" indent="0">
              <a:buNone/>
              <a:defRPr sz="2426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54820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429862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98948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772798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18421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01930" y="6099190"/>
            <a:ext cx="3361593" cy="3508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34464" tIns="134464" rIns="134464" bIns="134464" numCol="1" anchor="t" anchorCtr="0" compatLnSpc="1">
            <a:prstTxWarp prst="textNoShape">
              <a:avLst/>
            </a:prstTxWarp>
            <a:spAutoFit/>
          </a:bodyPr>
          <a:lstStyle/>
          <a:p>
            <a:pPr defTabSz="685513" eaLnBrk="0" hangingPunct="0"/>
            <a:r>
              <a:rPr lang="en-US" sz="515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invGray">
          <a:xfrm>
            <a:off x="341169" y="470067"/>
            <a:ext cx="1056059" cy="30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05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01929" y="1189177"/>
            <a:ext cx="8740142" cy="1845826"/>
          </a:xfrm>
          <a:prstGeom prst="rect">
            <a:avLst/>
          </a:prstGeom>
        </p:spPr>
        <p:txBody>
          <a:bodyPr/>
          <a:lstStyle>
            <a:lvl1pPr marL="213614" indent="-213614">
              <a:buClr>
                <a:schemeClr val="tx1"/>
              </a:buClr>
              <a:buSzPct val="90000"/>
              <a:buFont typeface="Arial" pitchFamily="34" charset="0"/>
              <a:buChar char="•"/>
              <a:defRPr sz="2647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20224" indent="-206610">
              <a:buClr>
                <a:schemeClr val="tx1"/>
              </a:buClr>
              <a:buSzPct val="90000"/>
              <a:buFont typeface="Arial" pitchFamily="34" charset="0"/>
              <a:buChar char="•"/>
              <a:defRPr sz="2353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633838" indent="-213614">
              <a:buClr>
                <a:schemeClr val="tx1"/>
              </a:buClr>
              <a:buSzPct val="90000"/>
              <a:buFont typeface="Arial" pitchFamily="34" charset="0"/>
              <a:buChar char="•"/>
              <a:defRPr sz="2059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801928" indent="-168090">
              <a:buClr>
                <a:schemeClr val="tx1"/>
              </a:buClr>
              <a:buSzPct val="90000"/>
              <a:buFont typeface="Arial" pitchFamily="34" charset="0"/>
              <a:buChar char="•"/>
              <a:defRPr sz="1765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970017" indent="-168090">
              <a:buClr>
                <a:schemeClr val="tx1"/>
              </a:buClr>
              <a:buSzPct val="90000"/>
              <a:buFont typeface="Arial" pitchFamily="34" charset="0"/>
              <a:buChar char="•"/>
              <a:defRPr sz="147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38876"/>
            <a:ext cx="9144001" cy="619125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2721" spc="-38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3078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0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/>
              <a:endParaRPr kumimoji="0" lang="ja-JP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1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l" eaLnBrk="1" hangingPunct="1"/>
              <a:endParaRPr kumimoji="0" lang="ja-JP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2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l" eaLnBrk="1" hangingPunct="1"/>
              <a:endParaRPr kumimoji="0" lang="ja-JP" altLang="en-US">
                <a:solidFill>
                  <a:schemeClr val="hlink"/>
                </a:solidFill>
              </a:endParaRPr>
            </a:p>
          </p:txBody>
        </p:sp>
        <p:sp>
          <p:nvSpPr>
            <p:cNvPr id="1033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l" eaLnBrk="1" hangingPunct="1"/>
              <a:endParaRPr kumimoji="0" lang="ja-JP" altLang="en-US">
                <a:solidFill>
                  <a:schemeClr val="hlink"/>
                </a:solidFill>
              </a:endParaRPr>
            </a:p>
          </p:txBody>
        </p:sp>
        <p:sp>
          <p:nvSpPr>
            <p:cNvPr id="1034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l" eaLnBrk="1" hangingPunct="1"/>
              <a:endParaRPr kumimoji="0" lang="ja-JP" altLang="en-US">
                <a:solidFill>
                  <a:schemeClr val="accent2"/>
                </a:solidFill>
              </a:endParaRPr>
            </a:p>
          </p:txBody>
        </p:sp>
        <p:sp>
          <p:nvSpPr>
            <p:cNvPr id="1035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l" eaLnBrk="1" hangingPunct="1"/>
              <a:endParaRPr kumimoji="0" lang="ja-JP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l" eaLnBrk="1" hangingPunct="1"/>
              <a:endParaRPr kumimoji="0" lang="ja-JP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7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l" eaLnBrk="1" hangingPunct="1"/>
              <a:endParaRPr kumimoji="0" lang="ja-JP" altLang="en-US">
                <a:solidFill>
                  <a:schemeClr val="accent2"/>
                </a:solidFill>
              </a:endParaRPr>
            </a:p>
          </p:txBody>
        </p:sp>
        <p:sp>
          <p:nvSpPr>
            <p:cNvPr id="1038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l" eaLnBrk="1" hangingPunct="1"/>
              <a:endParaRPr kumimoji="0" lang="ja-JP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10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  <a:endParaRPr lang="en-US" altLang="ja-JP"/>
          </a:p>
        </p:txBody>
      </p:sp>
      <p:sp>
        <p:nvSpPr>
          <p:cNvPr id="102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9" name="Text Box 17"/>
          <p:cNvSpPr txBox="1">
            <a:spLocks noChangeArrowheads="1"/>
          </p:cNvSpPr>
          <p:nvPr/>
        </p:nvSpPr>
        <p:spPr bwMode="auto">
          <a:xfrm>
            <a:off x="7451725" y="6491288"/>
            <a:ext cx="1692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ja-JP" sz="1600">
                <a:solidFill>
                  <a:schemeClr val="bg1"/>
                </a:solidFill>
              </a:rPr>
              <a:t>p.</a:t>
            </a:r>
            <a:fld id="{344D7809-CBF2-4DF3-8E20-A554D168E9F3}" type="slidenum">
              <a:rPr lang="en-US" altLang="ja-JP" sz="1600">
                <a:solidFill>
                  <a:schemeClr val="bg1"/>
                </a:solidFill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ja-J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59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930" y="289511"/>
            <a:ext cx="874188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01931" y="1189178"/>
            <a:ext cx="8740140" cy="174644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 rot="5400000">
            <a:off x="6032981" y="3116543"/>
            <a:ext cx="6858623" cy="62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134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</p:sldLayoutIdLst>
  <p:txStyles>
    <p:titleStyle>
      <a:lvl1pPr algn="l" defTabSz="685845" rtl="0" eaLnBrk="1" latinLnBrk="0" hangingPunct="1">
        <a:lnSpc>
          <a:spcPct val="90000"/>
        </a:lnSpc>
        <a:spcBef>
          <a:spcPct val="0"/>
        </a:spcBef>
        <a:buNone/>
        <a:defRPr lang="en-US" sz="3529" b="0" kern="1200" cap="none" spc="-75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168090" marR="0" indent="-168090" algn="l" defTabSz="685845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647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336179" marR="0" indent="-168090" algn="l" defTabSz="685845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59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504269" marR="0" indent="-168090" algn="l" defTabSz="685845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672358" marR="0" indent="-168090" algn="l" defTabSz="685845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18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840448" marR="0" indent="-168090" algn="l" defTabSz="685845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18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1886074" indent="-171462" algn="l" defTabSz="685845" rtl="0" eaLnBrk="1" latinLnBrk="0" hangingPunct="1">
        <a:spcBef>
          <a:spcPct val="20000"/>
        </a:spcBef>
        <a:buFont typeface="Arial" pitchFamily="34" charset="0"/>
        <a:buChar char="•"/>
        <a:defRPr sz="1471" kern="1200">
          <a:solidFill>
            <a:schemeClr val="tx1"/>
          </a:solidFill>
          <a:latin typeface="+mn-lt"/>
          <a:ea typeface="+mn-ea"/>
          <a:cs typeface="+mn-cs"/>
        </a:defRPr>
      </a:lvl6pPr>
      <a:lvl7pPr marL="2228997" indent="-171462" algn="l" defTabSz="685845" rtl="0" eaLnBrk="1" latinLnBrk="0" hangingPunct="1">
        <a:spcBef>
          <a:spcPct val="20000"/>
        </a:spcBef>
        <a:buFont typeface="Arial" pitchFamily="34" charset="0"/>
        <a:buChar char="•"/>
        <a:defRPr sz="1471" kern="1200">
          <a:solidFill>
            <a:schemeClr val="tx1"/>
          </a:solidFill>
          <a:latin typeface="+mn-lt"/>
          <a:ea typeface="+mn-ea"/>
          <a:cs typeface="+mn-cs"/>
        </a:defRPr>
      </a:lvl7pPr>
      <a:lvl8pPr marL="2571920" indent="-171462" algn="l" defTabSz="685845" rtl="0" eaLnBrk="1" latinLnBrk="0" hangingPunct="1">
        <a:spcBef>
          <a:spcPct val="20000"/>
        </a:spcBef>
        <a:buFont typeface="Arial" pitchFamily="34" charset="0"/>
        <a:buChar char="•"/>
        <a:defRPr sz="1471" kern="1200">
          <a:solidFill>
            <a:schemeClr val="tx1"/>
          </a:solidFill>
          <a:latin typeface="+mn-lt"/>
          <a:ea typeface="+mn-ea"/>
          <a:cs typeface="+mn-cs"/>
        </a:defRPr>
      </a:lvl8pPr>
      <a:lvl9pPr marL="2914843" indent="-171462" algn="l" defTabSz="685845" rtl="0" eaLnBrk="1" latinLnBrk="0" hangingPunct="1">
        <a:spcBef>
          <a:spcPct val="20000"/>
        </a:spcBef>
        <a:buFont typeface="Arial" pitchFamily="34" charset="0"/>
        <a:buChar char="•"/>
        <a:defRPr sz="147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45" rtl="0" eaLnBrk="1" latinLnBrk="0" hangingPunct="1">
        <a:defRPr sz="1324" kern="1200">
          <a:solidFill>
            <a:schemeClr val="tx1"/>
          </a:solidFill>
          <a:latin typeface="+mn-lt"/>
          <a:ea typeface="+mn-ea"/>
          <a:cs typeface="+mn-cs"/>
        </a:defRPr>
      </a:lvl1pPr>
      <a:lvl2pPr marL="342923" algn="l" defTabSz="685845" rtl="0" eaLnBrk="1" latinLnBrk="0" hangingPunct="1">
        <a:defRPr sz="1324" kern="1200">
          <a:solidFill>
            <a:schemeClr val="tx1"/>
          </a:solidFill>
          <a:latin typeface="+mn-lt"/>
          <a:ea typeface="+mn-ea"/>
          <a:cs typeface="+mn-cs"/>
        </a:defRPr>
      </a:lvl2pPr>
      <a:lvl3pPr marL="685845" algn="l" defTabSz="685845" rtl="0" eaLnBrk="1" latinLnBrk="0" hangingPunct="1">
        <a:defRPr sz="1324" kern="1200">
          <a:solidFill>
            <a:schemeClr val="tx1"/>
          </a:solidFill>
          <a:latin typeface="+mn-lt"/>
          <a:ea typeface="+mn-ea"/>
          <a:cs typeface="+mn-cs"/>
        </a:defRPr>
      </a:lvl3pPr>
      <a:lvl4pPr marL="1028768" algn="l" defTabSz="685845" rtl="0" eaLnBrk="1" latinLnBrk="0" hangingPunct="1">
        <a:defRPr sz="1324" kern="1200">
          <a:solidFill>
            <a:schemeClr val="tx1"/>
          </a:solidFill>
          <a:latin typeface="+mn-lt"/>
          <a:ea typeface="+mn-ea"/>
          <a:cs typeface="+mn-cs"/>
        </a:defRPr>
      </a:lvl4pPr>
      <a:lvl5pPr marL="1371690" algn="l" defTabSz="685845" rtl="0" eaLnBrk="1" latinLnBrk="0" hangingPunct="1">
        <a:defRPr sz="1324" kern="1200">
          <a:solidFill>
            <a:schemeClr val="tx1"/>
          </a:solidFill>
          <a:latin typeface="+mn-lt"/>
          <a:ea typeface="+mn-ea"/>
          <a:cs typeface="+mn-cs"/>
        </a:defRPr>
      </a:lvl5pPr>
      <a:lvl6pPr marL="1714614" algn="l" defTabSz="685845" rtl="0" eaLnBrk="1" latinLnBrk="0" hangingPunct="1">
        <a:defRPr sz="1324" kern="1200">
          <a:solidFill>
            <a:schemeClr val="tx1"/>
          </a:solidFill>
          <a:latin typeface="+mn-lt"/>
          <a:ea typeface="+mn-ea"/>
          <a:cs typeface="+mn-cs"/>
        </a:defRPr>
      </a:lvl6pPr>
      <a:lvl7pPr marL="2057536" algn="l" defTabSz="685845" rtl="0" eaLnBrk="1" latinLnBrk="0" hangingPunct="1">
        <a:defRPr sz="1324" kern="1200">
          <a:solidFill>
            <a:schemeClr val="tx1"/>
          </a:solidFill>
          <a:latin typeface="+mn-lt"/>
          <a:ea typeface="+mn-ea"/>
          <a:cs typeface="+mn-cs"/>
        </a:defRPr>
      </a:lvl7pPr>
      <a:lvl8pPr marL="2400458" algn="l" defTabSz="685845" rtl="0" eaLnBrk="1" latinLnBrk="0" hangingPunct="1">
        <a:defRPr sz="1324" kern="1200">
          <a:solidFill>
            <a:schemeClr val="tx1"/>
          </a:solidFill>
          <a:latin typeface="+mn-lt"/>
          <a:ea typeface="+mn-ea"/>
          <a:cs typeface="+mn-cs"/>
        </a:defRPr>
      </a:lvl8pPr>
      <a:lvl9pPr marL="2743382" algn="l" defTabSz="685845" rtl="0" eaLnBrk="1" latinLnBrk="0" hangingPunct="1">
        <a:defRPr sz="13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svg"/><Relationship Id="rId21" Type="http://schemas.openxmlformats.org/officeDocument/2006/relationships/image" Target="../media/image29.png"/><Relationship Id="rId34" Type="http://schemas.openxmlformats.org/officeDocument/2006/relationships/image" Target="../media/image4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svg"/><Relationship Id="rId32" Type="http://schemas.openxmlformats.org/officeDocument/2006/relationships/image" Target="../media/image40.png"/><Relationship Id="rId5" Type="http://schemas.openxmlformats.org/officeDocument/2006/relationships/image" Target="../media/image13.png"/><Relationship Id="rId15" Type="http://schemas.openxmlformats.org/officeDocument/2006/relationships/image" Target="../media/image23.sv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10" Type="http://schemas.openxmlformats.org/officeDocument/2006/relationships/image" Target="../media/image18.svg"/><Relationship Id="rId19" Type="http://schemas.openxmlformats.org/officeDocument/2006/relationships/image" Target="../media/image27.sv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sv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グラフィックス 249">
            <a:extLst>
              <a:ext uri="{FF2B5EF4-FFF2-40B4-BE49-F238E27FC236}">
                <a16:creationId xmlns:a16="http://schemas.microsoft.com/office/drawing/2014/main" id="{FC81D4BC-04E2-406D-8DEF-BBCB28C70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6879" y="3717119"/>
            <a:ext cx="253191" cy="253191"/>
          </a:xfrm>
          <a:prstGeom prst="rect">
            <a:avLst/>
          </a:prstGeom>
        </p:spPr>
      </p:pic>
      <p:sp>
        <p:nvSpPr>
          <p:cNvPr id="251" name="テキスト ボックス 250">
            <a:extLst>
              <a:ext uri="{FF2B5EF4-FFF2-40B4-BE49-F238E27FC236}">
                <a16:creationId xmlns:a16="http://schemas.microsoft.com/office/drawing/2014/main" id="{8F54D717-76DF-4088-AE46-C4E76E5509BB}"/>
              </a:ext>
            </a:extLst>
          </p:cNvPr>
          <p:cNvSpPr txBox="1"/>
          <p:nvPr/>
        </p:nvSpPr>
        <p:spPr>
          <a:xfrm>
            <a:off x="2511535" y="3722948"/>
            <a:ext cx="117051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 dirty="0"/>
              <a:t>開発系 </a:t>
            </a:r>
            <a:r>
              <a:rPr kumimoji="1" lang="en-US" altLang="ja-JP" sz="700" dirty="0"/>
              <a:t>VDC </a:t>
            </a:r>
            <a:r>
              <a:rPr kumimoji="1" lang="ja-JP" altLang="en-US" sz="700" dirty="0"/>
              <a:t>管理用 </a:t>
            </a:r>
            <a:r>
              <a:rPr kumimoji="1" lang="en-US" altLang="ja-JP" sz="700" dirty="0"/>
              <a:t>AAD</a:t>
            </a:r>
            <a:endParaRPr kumimoji="1" lang="ja-JP" altLang="en-US" sz="700" dirty="0"/>
          </a:p>
        </p:txBody>
      </p:sp>
      <p:pic>
        <p:nvPicPr>
          <p:cNvPr id="252" name="Picture 26" descr="Yellow User sm">
            <a:extLst>
              <a:ext uri="{FF2B5EF4-FFF2-40B4-BE49-F238E27FC236}">
                <a16:creationId xmlns:a16="http://schemas.microsoft.com/office/drawing/2014/main" id="{70E48D6F-388F-4402-A58E-807DF0202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897" y="3927622"/>
            <a:ext cx="127871" cy="17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3" name="図 252">
            <a:extLst>
              <a:ext uri="{FF2B5EF4-FFF2-40B4-BE49-F238E27FC236}">
                <a16:creationId xmlns:a16="http://schemas.microsoft.com/office/drawing/2014/main" id="{87EF46EF-5835-45FE-8B76-6289DAD2134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CC0099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705143" y="3947230"/>
            <a:ext cx="165660" cy="139932"/>
          </a:xfrm>
          <a:prstGeom prst="rect">
            <a:avLst/>
          </a:prstGeom>
        </p:spPr>
      </p:pic>
      <p:pic>
        <p:nvPicPr>
          <p:cNvPr id="254" name="図 253">
            <a:extLst>
              <a:ext uri="{FF2B5EF4-FFF2-40B4-BE49-F238E27FC236}">
                <a16:creationId xmlns:a16="http://schemas.microsoft.com/office/drawing/2014/main" id="{10520C2C-C9F6-40D3-900F-321A6CA505B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922628" y="3946953"/>
            <a:ext cx="165660" cy="139932"/>
          </a:xfrm>
          <a:prstGeom prst="rect">
            <a:avLst/>
          </a:prstGeom>
        </p:spPr>
      </p:pic>
      <p:pic>
        <p:nvPicPr>
          <p:cNvPr id="255" name="Picture 78" descr="図1">
            <a:extLst>
              <a:ext uri="{FF2B5EF4-FFF2-40B4-BE49-F238E27FC236}">
                <a16:creationId xmlns:a16="http://schemas.microsoft.com/office/drawing/2014/main" id="{F43CBD3C-94B2-40A2-8B41-B73B2D800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38" y="3921403"/>
            <a:ext cx="127871" cy="17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3" name="直線矢印コネクタ 222">
            <a:extLst>
              <a:ext uri="{FF2B5EF4-FFF2-40B4-BE49-F238E27FC236}">
                <a16:creationId xmlns:a16="http://schemas.microsoft.com/office/drawing/2014/main" id="{F4220261-ABC7-416F-8F30-67D8E2075C41}"/>
              </a:ext>
            </a:extLst>
          </p:cNvPr>
          <p:cNvCxnSpPr/>
          <p:nvPr/>
        </p:nvCxnSpPr>
        <p:spPr bwMode="auto">
          <a:xfrm flipH="1" flipV="1">
            <a:off x="1621834" y="1881018"/>
            <a:ext cx="1827128" cy="4246282"/>
          </a:xfrm>
          <a:prstGeom prst="straightConnector1">
            <a:avLst/>
          </a:prstGeom>
          <a:noFill/>
          <a:ln w="19050" cap="flat" cmpd="sng" algn="ctr">
            <a:solidFill>
              <a:srgbClr val="CC0099"/>
            </a:solidFill>
            <a:prstDash val="sysDot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85" name="四角形: 角を丸くする 984">
            <a:extLst>
              <a:ext uri="{FF2B5EF4-FFF2-40B4-BE49-F238E27FC236}">
                <a16:creationId xmlns:a16="http://schemas.microsoft.com/office/drawing/2014/main" id="{DE71293F-9350-4199-B314-98A0BC035A88}"/>
              </a:ext>
            </a:extLst>
          </p:cNvPr>
          <p:cNvSpPr/>
          <p:nvPr/>
        </p:nvSpPr>
        <p:spPr bwMode="auto">
          <a:xfrm>
            <a:off x="5805614" y="4441420"/>
            <a:ext cx="505110" cy="511514"/>
          </a:xfrm>
          <a:prstGeom prst="roundRect">
            <a:avLst/>
          </a:prstGeom>
          <a:solidFill>
            <a:srgbClr val="CCFFFF"/>
          </a:solidFill>
          <a:ln w="19050" cap="flat" cmpd="sng" algn="ctr">
            <a:solidFill>
              <a:schemeClr val="bg2">
                <a:lumMod val="7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86" name="四角形: 角を丸くする 985">
            <a:extLst>
              <a:ext uri="{FF2B5EF4-FFF2-40B4-BE49-F238E27FC236}">
                <a16:creationId xmlns:a16="http://schemas.microsoft.com/office/drawing/2014/main" id="{2CF5602B-092F-417F-966F-10DDBED341CE}"/>
              </a:ext>
            </a:extLst>
          </p:cNvPr>
          <p:cNvSpPr/>
          <p:nvPr/>
        </p:nvSpPr>
        <p:spPr bwMode="auto">
          <a:xfrm>
            <a:off x="3184165" y="3491847"/>
            <a:ext cx="505110" cy="511514"/>
          </a:xfrm>
          <a:prstGeom prst="roundRect">
            <a:avLst/>
          </a:prstGeom>
          <a:solidFill>
            <a:srgbClr val="CCFFFF"/>
          </a:solidFill>
          <a:ln w="19050" cap="flat" cmpd="sng" algn="ctr">
            <a:solidFill>
              <a:schemeClr val="bg2">
                <a:lumMod val="7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84" name="四角形: 角を丸くする 983">
            <a:extLst>
              <a:ext uri="{FF2B5EF4-FFF2-40B4-BE49-F238E27FC236}">
                <a16:creationId xmlns:a16="http://schemas.microsoft.com/office/drawing/2014/main" id="{66ECEF03-0768-435C-80B6-A486F5419427}"/>
              </a:ext>
            </a:extLst>
          </p:cNvPr>
          <p:cNvSpPr/>
          <p:nvPr/>
        </p:nvSpPr>
        <p:spPr bwMode="auto">
          <a:xfrm>
            <a:off x="5805614" y="2156280"/>
            <a:ext cx="505110" cy="511514"/>
          </a:xfrm>
          <a:prstGeom prst="roundRect">
            <a:avLst/>
          </a:prstGeom>
          <a:solidFill>
            <a:srgbClr val="FFEBFF"/>
          </a:solidFill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82" name="四角形: 角を丸くする 981">
            <a:extLst>
              <a:ext uri="{FF2B5EF4-FFF2-40B4-BE49-F238E27FC236}">
                <a16:creationId xmlns:a16="http://schemas.microsoft.com/office/drawing/2014/main" id="{FC938652-064C-4DED-8A92-2378BEA92F5E}"/>
              </a:ext>
            </a:extLst>
          </p:cNvPr>
          <p:cNvSpPr/>
          <p:nvPr/>
        </p:nvSpPr>
        <p:spPr bwMode="auto">
          <a:xfrm>
            <a:off x="3096883" y="6038491"/>
            <a:ext cx="1414732" cy="681486"/>
          </a:xfrm>
          <a:prstGeom prst="roundRect">
            <a:avLst/>
          </a:prstGeom>
          <a:solidFill>
            <a:srgbClr val="FFEBFF"/>
          </a:solidFill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951" name="直線矢印コネクタ 950">
            <a:extLst>
              <a:ext uri="{FF2B5EF4-FFF2-40B4-BE49-F238E27FC236}">
                <a16:creationId xmlns:a16="http://schemas.microsoft.com/office/drawing/2014/main" id="{7794A969-23CF-481A-A3CD-114244BBCAB4}"/>
              </a:ext>
            </a:extLst>
          </p:cNvPr>
          <p:cNvCxnSpPr>
            <a:stCxn id="936" idx="0"/>
          </p:cNvCxnSpPr>
          <p:nvPr/>
        </p:nvCxnSpPr>
        <p:spPr bwMode="auto">
          <a:xfrm flipV="1">
            <a:off x="3446850" y="4713901"/>
            <a:ext cx="343511" cy="1426374"/>
          </a:xfrm>
          <a:prstGeom prst="straightConnector1">
            <a:avLst/>
          </a:prstGeom>
          <a:noFill/>
          <a:ln w="19050" cap="flat" cmpd="sng" algn="ctr">
            <a:solidFill>
              <a:srgbClr val="CC0099"/>
            </a:solidFill>
            <a:prstDash val="sysDot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2" name="直線矢印コネクタ 951">
            <a:extLst>
              <a:ext uri="{FF2B5EF4-FFF2-40B4-BE49-F238E27FC236}">
                <a16:creationId xmlns:a16="http://schemas.microsoft.com/office/drawing/2014/main" id="{36F4CB36-150C-49A3-8AAB-C9935FCA8795}"/>
              </a:ext>
            </a:extLst>
          </p:cNvPr>
          <p:cNvCxnSpPr>
            <a:stCxn id="936" idx="0"/>
          </p:cNvCxnSpPr>
          <p:nvPr/>
        </p:nvCxnSpPr>
        <p:spPr bwMode="auto">
          <a:xfrm flipV="1">
            <a:off x="3446850" y="2800005"/>
            <a:ext cx="319643" cy="3340270"/>
          </a:xfrm>
          <a:prstGeom prst="straightConnector1">
            <a:avLst/>
          </a:prstGeom>
          <a:noFill/>
          <a:ln w="19050" cap="flat" cmpd="sng" algn="ctr">
            <a:solidFill>
              <a:srgbClr val="CC0099"/>
            </a:solidFill>
            <a:prstDash val="sysDot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5" name="直線矢印コネクタ 954">
            <a:extLst>
              <a:ext uri="{FF2B5EF4-FFF2-40B4-BE49-F238E27FC236}">
                <a16:creationId xmlns:a16="http://schemas.microsoft.com/office/drawing/2014/main" id="{F9986B35-E4DF-444B-9D4C-0F9961F49DBC}"/>
              </a:ext>
            </a:extLst>
          </p:cNvPr>
          <p:cNvCxnSpPr>
            <a:stCxn id="936" idx="0"/>
            <a:endCxn id="761" idx="2"/>
          </p:cNvCxnSpPr>
          <p:nvPr/>
        </p:nvCxnSpPr>
        <p:spPr bwMode="auto">
          <a:xfrm flipH="1" flipV="1">
            <a:off x="2433475" y="1688664"/>
            <a:ext cx="1013375" cy="4451611"/>
          </a:xfrm>
          <a:prstGeom prst="straightConnector1">
            <a:avLst/>
          </a:prstGeom>
          <a:noFill/>
          <a:ln w="19050" cap="flat" cmpd="sng" algn="ctr">
            <a:solidFill>
              <a:srgbClr val="CC0099"/>
            </a:solidFill>
            <a:prstDash val="sysDot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4" name="正方形/長方形 813">
            <a:extLst>
              <a:ext uri="{FF2B5EF4-FFF2-40B4-BE49-F238E27FC236}">
                <a16:creationId xmlns:a16="http://schemas.microsoft.com/office/drawing/2014/main" id="{AABD03E3-D7C9-4AAA-AFDD-CDA2779FEAAC}"/>
              </a:ext>
            </a:extLst>
          </p:cNvPr>
          <p:cNvSpPr/>
          <p:nvPr/>
        </p:nvSpPr>
        <p:spPr bwMode="auto">
          <a:xfrm>
            <a:off x="1071398" y="5405265"/>
            <a:ext cx="876465" cy="2839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685CAB1-5FA8-4974-9DFF-9A3FACB0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</a:t>
            </a:r>
            <a:r>
              <a:rPr kumimoji="1" lang="ja-JP" altLang="en-US" dirty="0"/>
              <a:t> 本番環境／開発環境／</a:t>
            </a:r>
            <a:r>
              <a:rPr kumimoji="1" lang="en-US" altLang="ja-JP" dirty="0" err="1"/>
              <a:t>PoC</a:t>
            </a:r>
            <a:r>
              <a:rPr kumimoji="1" lang="en-US" altLang="ja-JP" dirty="0"/>
              <a:t> </a:t>
            </a:r>
            <a:r>
              <a:rPr kumimoji="1" lang="ja-JP" altLang="en-US" dirty="0"/>
              <a:t>環境の </a:t>
            </a:r>
            <a:r>
              <a:rPr kumimoji="1" lang="en-US" altLang="ja-JP" dirty="0"/>
              <a:t>3 </a:t>
            </a:r>
            <a:r>
              <a:rPr kumimoji="1" lang="ja-JP" altLang="en-US" dirty="0"/>
              <a:t>環境の準備</a:t>
            </a:r>
            <a:endParaRPr lang="ja-JP" altLang="en-US" dirty="0"/>
          </a:p>
        </p:txBody>
      </p:sp>
      <p:sp>
        <p:nvSpPr>
          <p:cNvPr id="463" name="矢印: 左右 462">
            <a:extLst>
              <a:ext uri="{FF2B5EF4-FFF2-40B4-BE49-F238E27FC236}">
                <a16:creationId xmlns:a16="http://schemas.microsoft.com/office/drawing/2014/main" id="{4D939593-9A1C-4791-944B-946713C25477}"/>
              </a:ext>
            </a:extLst>
          </p:cNvPr>
          <p:cNvSpPr/>
          <p:nvPr/>
        </p:nvSpPr>
        <p:spPr bwMode="auto">
          <a:xfrm>
            <a:off x="6096801" y="1098754"/>
            <a:ext cx="2416745" cy="263701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PoC / Coding </a:t>
            </a:r>
            <a:r>
              <a:rPr kumimoji="1" lang="ja-JP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環境</a:t>
            </a:r>
          </a:p>
        </p:txBody>
      </p:sp>
      <p:sp>
        <p:nvSpPr>
          <p:cNvPr id="465" name="矢印: 左右 464">
            <a:extLst>
              <a:ext uri="{FF2B5EF4-FFF2-40B4-BE49-F238E27FC236}">
                <a16:creationId xmlns:a16="http://schemas.microsoft.com/office/drawing/2014/main" id="{BED7828B-CDBE-40A6-BDDC-D85AC54613F0}"/>
              </a:ext>
            </a:extLst>
          </p:cNvPr>
          <p:cNvSpPr/>
          <p:nvPr/>
        </p:nvSpPr>
        <p:spPr bwMode="auto">
          <a:xfrm>
            <a:off x="2080333" y="1098754"/>
            <a:ext cx="3853072" cy="263701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VDC </a:t>
            </a:r>
            <a:r>
              <a:rPr kumimoji="1" lang="ja-JP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環境</a:t>
            </a:r>
          </a:p>
        </p:txBody>
      </p:sp>
      <p:sp>
        <p:nvSpPr>
          <p:cNvPr id="467" name="矢印: 左右 466">
            <a:extLst>
              <a:ext uri="{FF2B5EF4-FFF2-40B4-BE49-F238E27FC236}">
                <a16:creationId xmlns:a16="http://schemas.microsoft.com/office/drawing/2014/main" id="{0F5AE3FD-F213-4E58-86EB-D78513810054}"/>
              </a:ext>
            </a:extLst>
          </p:cNvPr>
          <p:cNvSpPr/>
          <p:nvPr/>
        </p:nvSpPr>
        <p:spPr bwMode="auto">
          <a:xfrm>
            <a:off x="635581" y="1098754"/>
            <a:ext cx="1358899" cy="263701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オンプレ環境</a:t>
            </a:r>
          </a:p>
        </p:txBody>
      </p:sp>
      <p:sp>
        <p:nvSpPr>
          <p:cNvPr id="469" name="正方形/長方形 468">
            <a:extLst>
              <a:ext uri="{FF2B5EF4-FFF2-40B4-BE49-F238E27FC236}">
                <a16:creationId xmlns:a16="http://schemas.microsoft.com/office/drawing/2014/main" id="{7198C260-CB5F-4E9E-8B4E-8DB43385630C}"/>
              </a:ext>
            </a:extLst>
          </p:cNvPr>
          <p:cNvSpPr/>
          <p:nvPr/>
        </p:nvSpPr>
        <p:spPr bwMode="auto">
          <a:xfrm>
            <a:off x="6671179" y="4346971"/>
            <a:ext cx="1368920" cy="62680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pic>
        <p:nvPicPr>
          <p:cNvPr id="471" name="Picture 5" descr="PC sm">
            <a:extLst>
              <a:ext uri="{FF2B5EF4-FFF2-40B4-BE49-F238E27FC236}">
                <a16:creationId xmlns:a16="http://schemas.microsoft.com/office/drawing/2014/main" id="{BE7EC36D-84D7-439C-9CD9-466B3FF8E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752" y="4464565"/>
            <a:ext cx="253731" cy="252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3" name="Picture 25" descr="Bule User sm">
            <a:extLst>
              <a:ext uri="{FF2B5EF4-FFF2-40B4-BE49-F238E27FC236}">
                <a16:creationId xmlns:a16="http://schemas.microsoft.com/office/drawing/2014/main" id="{A519B1E7-593C-409C-9B56-579B6936A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987" y="4542205"/>
            <a:ext cx="128703" cy="171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5" name="テキスト ボックス 474">
            <a:extLst>
              <a:ext uri="{FF2B5EF4-FFF2-40B4-BE49-F238E27FC236}">
                <a16:creationId xmlns:a16="http://schemas.microsoft.com/office/drawing/2014/main" id="{A6C166F5-A671-4AB3-B7B5-3AE7654C12DD}"/>
              </a:ext>
            </a:extLst>
          </p:cNvPr>
          <p:cNvSpPr txBox="1"/>
          <p:nvPr/>
        </p:nvSpPr>
        <p:spPr>
          <a:xfrm>
            <a:off x="8155364" y="4718210"/>
            <a:ext cx="6206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00"/>
              <a:t>社外</a:t>
            </a:r>
          </a:p>
          <a:p>
            <a:r>
              <a:rPr kumimoji="1" lang="ja-JP" altLang="en-US" sz="700"/>
              <a:t>アプリ</a:t>
            </a:r>
            <a:endParaRPr kumimoji="1" lang="en-US" altLang="ja-JP" sz="700"/>
          </a:p>
          <a:p>
            <a:r>
              <a:rPr kumimoji="1" lang="ja-JP" altLang="en-US" sz="700"/>
              <a:t>開発チーム</a:t>
            </a:r>
          </a:p>
        </p:txBody>
      </p:sp>
      <p:pic>
        <p:nvPicPr>
          <p:cNvPr id="477" name="グラフィックス 476">
            <a:extLst>
              <a:ext uri="{FF2B5EF4-FFF2-40B4-BE49-F238E27FC236}">
                <a16:creationId xmlns:a16="http://schemas.microsoft.com/office/drawing/2014/main" id="{542642A1-5565-441F-BA23-EB2816822D8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69944" y="4508573"/>
            <a:ext cx="154491" cy="154491"/>
          </a:xfrm>
          <a:prstGeom prst="rect">
            <a:avLst/>
          </a:prstGeom>
        </p:spPr>
      </p:pic>
      <p:pic>
        <p:nvPicPr>
          <p:cNvPr id="479" name="Picture 4">
            <a:extLst>
              <a:ext uri="{FF2B5EF4-FFF2-40B4-BE49-F238E27FC236}">
                <a16:creationId xmlns:a16="http://schemas.microsoft.com/office/drawing/2014/main" id="{FE396145-647A-4182-B1C9-D8B701A7B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187" y="4515113"/>
            <a:ext cx="162638" cy="16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" name="Picture 6">
            <a:extLst>
              <a:ext uri="{FF2B5EF4-FFF2-40B4-BE49-F238E27FC236}">
                <a16:creationId xmlns:a16="http://schemas.microsoft.com/office/drawing/2014/main" id="{A3657B8B-DC22-4B77-916F-5AB5E2412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713" y="4502961"/>
            <a:ext cx="162638" cy="16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3" name="直線矢印コネクタ 482">
            <a:extLst>
              <a:ext uri="{FF2B5EF4-FFF2-40B4-BE49-F238E27FC236}">
                <a16:creationId xmlns:a16="http://schemas.microsoft.com/office/drawing/2014/main" id="{0C71D293-20A4-4D9E-8A67-4FB476D4E220}"/>
              </a:ext>
            </a:extLst>
          </p:cNvPr>
          <p:cNvCxnSpPr>
            <a:cxnSpLocks/>
          </p:cNvCxnSpPr>
          <p:nvPr/>
        </p:nvCxnSpPr>
        <p:spPr bwMode="auto">
          <a:xfrm flipH="1">
            <a:off x="7892615" y="4593327"/>
            <a:ext cx="263305" cy="0"/>
          </a:xfrm>
          <a:prstGeom prst="straightConnector1">
            <a:avLst/>
          </a:prstGeom>
          <a:noFill/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5" name="テキスト ボックス 484">
            <a:extLst>
              <a:ext uri="{FF2B5EF4-FFF2-40B4-BE49-F238E27FC236}">
                <a16:creationId xmlns:a16="http://schemas.microsoft.com/office/drawing/2014/main" id="{4D62E806-F93D-445E-B6D0-8FC6C0C5637A}"/>
              </a:ext>
            </a:extLst>
          </p:cNvPr>
          <p:cNvSpPr txBox="1"/>
          <p:nvPr/>
        </p:nvSpPr>
        <p:spPr>
          <a:xfrm>
            <a:off x="7564453" y="4653360"/>
            <a:ext cx="51167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500"/>
              <a:t>ソースコード</a:t>
            </a:r>
            <a:endParaRPr kumimoji="1" lang="en-US" altLang="ja-JP" sz="500"/>
          </a:p>
          <a:p>
            <a:pPr algn="ctr"/>
            <a:r>
              <a:rPr kumimoji="1" lang="ja-JP" altLang="en-US" sz="500"/>
              <a:t>レポジトリ</a:t>
            </a:r>
            <a:endParaRPr kumimoji="1" lang="en-US" altLang="ja-JP" sz="500"/>
          </a:p>
          <a:p>
            <a:pPr algn="ctr"/>
            <a:r>
              <a:rPr lang="ja-JP" altLang="en-US" sz="500"/>
              <a:t>（</a:t>
            </a:r>
            <a:r>
              <a:rPr lang="en-US" altLang="ja-JP" sz="500"/>
              <a:t>Repos</a:t>
            </a:r>
            <a:r>
              <a:rPr lang="ja-JP" altLang="en-US" sz="500"/>
              <a:t>）</a:t>
            </a:r>
            <a:endParaRPr kumimoji="1" lang="ja-JP" altLang="en-US" sz="500"/>
          </a:p>
        </p:txBody>
      </p:sp>
      <p:cxnSp>
        <p:nvCxnSpPr>
          <p:cNvPr id="487" name="直線矢印コネクタ 486">
            <a:extLst>
              <a:ext uri="{FF2B5EF4-FFF2-40B4-BE49-F238E27FC236}">
                <a16:creationId xmlns:a16="http://schemas.microsoft.com/office/drawing/2014/main" id="{E96141EF-6335-4869-939F-B817A44F9A92}"/>
              </a:ext>
            </a:extLst>
          </p:cNvPr>
          <p:cNvCxnSpPr>
            <a:cxnSpLocks/>
          </p:cNvCxnSpPr>
          <p:nvPr/>
        </p:nvCxnSpPr>
        <p:spPr bwMode="auto">
          <a:xfrm flipH="1">
            <a:off x="7428041" y="4593327"/>
            <a:ext cx="300176" cy="0"/>
          </a:xfrm>
          <a:prstGeom prst="straightConnector1">
            <a:avLst/>
          </a:prstGeom>
          <a:noFill/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9" name="テキスト ボックス 488">
            <a:extLst>
              <a:ext uri="{FF2B5EF4-FFF2-40B4-BE49-F238E27FC236}">
                <a16:creationId xmlns:a16="http://schemas.microsoft.com/office/drawing/2014/main" id="{35AFF45A-7717-4680-98F8-0EE504D092B3}"/>
              </a:ext>
            </a:extLst>
          </p:cNvPr>
          <p:cNvSpPr txBox="1"/>
          <p:nvPr/>
        </p:nvSpPr>
        <p:spPr>
          <a:xfrm>
            <a:off x="7144480" y="4653360"/>
            <a:ext cx="44755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500"/>
              <a:t>成果物</a:t>
            </a:r>
          </a:p>
          <a:p>
            <a:pPr algn="ctr"/>
            <a:r>
              <a:rPr lang="ja-JP" altLang="en-US" sz="500"/>
              <a:t>バイナリ</a:t>
            </a:r>
            <a:endParaRPr kumimoji="1" lang="en-US" altLang="ja-JP" sz="500"/>
          </a:p>
          <a:p>
            <a:pPr algn="ctr"/>
            <a:r>
              <a:rPr kumimoji="1" lang="ja-JP" altLang="en-US" sz="500"/>
              <a:t>（</a:t>
            </a:r>
            <a:r>
              <a:rPr kumimoji="1" lang="en-US" altLang="ja-JP" sz="500"/>
              <a:t>Artifact</a:t>
            </a:r>
            <a:r>
              <a:rPr kumimoji="1" lang="ja-JP" altLang="en-US" sz="500"/>
              <a:t>）</a:t>
            </a:r>
          </a:p>
        </p:txBody>
      </p:sp>
      <p:sp>
        <p:nvSpPr>
          <p:cNvPr id="491" name="テキスト ボックス 490">
            <a:extLst>
              <a:ext uri="{FF2B5EF4-FFF2-40B4-BE49-F238E27FC236}">
                <a16:creationId xmlns:a16="http://schemas.microsoft.com/office/drawing/2014/main" id="{178FB060-A8B5-44EE-8657-D4321C6AC3F4}"/>
              </a:ext>
            </a:extLst>
          </p:cNvPr>
          <p:cNvSpPr txBox="1"/>
          <p:nvPr/>
        </p:nvSpPr>
        <p:spPr>
          <a:xfrm>
            <a:off x="7368071" y="4335308"/>
            <a:ext cx="4780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500"/>
              <a:t>自動ビルド</a:t>
            </a:r>
            <a:endParaRPr kumimoji="1" lang="en-US" altLang="ja-JP" sz="500"/>
          </a:p>
          <a:p>
            <a:pPr algn="ctr"/>
            <a:r>
              <a:rPr kumimoji="1" lang="ja-JP" altLang="en-US" sz="500"/>
              <a:t>（</a:t>
            </a:r>
            <a:r>
              <a:rPr kumimoji="1" lang="en-US" altLang="ja-JP" sz="500"/>
              <a:t>CI</a:t>
            </a:r>
            <a:r>
              <a:rPr kumimoji="1" lang="ja-JP" altLang="en-US" sz="500"/>
              <a:t>）</a:t>
            </a:r>
            <a:endParaRPr kumimoji="1" lang="en-US" altLang="ja-JP" sz="500"/>
          </a:p>
        </p:txBody>
      </p:sp>
      <p:cxnSp>
        <p:nvCxnSpPr>
          <p:cNvPr id="493" name="直線矢印コネクタ 492">
            <a:extLst>
              <a:ext uri="{FF2B5EF4-FFF2-40B4-BE49-F238E27FC236}">
                <a16:creationId xmlns:a16="http://schemas.microsoft.com/office/drawing/2014/main" id="{95415999-55CC-4689-9A26-BE2D8D31B339}"/>
              </a:ext>
            </a:extLst>
          </p:cNvPr>
          <p:cNvCxnSpPr>
            <a:cxnSpLocks/>
          </p:cNvCxnSpPr>
          <p:nvPr/>
        </p:nvCxnSpPr>
        <p:spPr bwMode="auto">
          <a:xfrm flipH="1">
            <a:off x="6961316" y="4593327"/>
            <a:ext cx="300176" cy="0"/>
          </a:xfrm>
          <a:prstGeom prst="straightConnector1">
            <a:avLst/>
          </a:prstGeom>
          <a:noFill/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5" name="テキスト ボックス 494">
            <a:extLst>
              <a:ext uri="{FF2B5EF4-FFF2-40B4-BE49-F238E27FC236}">
                <a16:creationId xmlns:a16="http://schemas.microsoft.com/office/drawing/2014/main" id="{7DF9BA5D-CD9A-43B4-8246-9CF20BB5F456}"/>
              </a:ext>
            </a:extLst>
          </p:cNvPr>
          <p:cNvSpPr txBox="1"/>
          <p:nvPr/>
        </p:nvSpPr>
        <p:spPr>
          <a:xfrm>
            <a:off x="6615705" y="4653360"/>
            <a:ext cx="4764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500"/>
              <a:t>リリース</a:t>
            </a:r>
            <a:endParaRPr lang="en-US" altLang="ja-JP" sz="500"/>
          </a:p>
          <a:p>
            <a:pPr algn="ctr"/>
            <a:r>
              <a:rPr lang="ja-JP" altLang="en-US" sz="500"/>
              <a:t>システム</a:t>
            </a:r>
            <a:endParaRPr lang="en-US" altLang="ja-JP" sz="500"/>
          </a:p>
          <a:p>
            <a:pPr algn="ctr"/>
            <a:r>
              <a:rPr kumimoji="1" lang="ja-JP" altLang="en-US" sz="500"/>
              <a:t>（</a:t>
            </a:r>
            <a:r>
              <a:rPr kumimoji="1" lang="en-US" altLang="ja-JP" sz="500"/>
              <a:t>Pipeline</a:t>
            </a:r>
            <a:r>
              <a:rPr kumimoji="1" lang="ja-JP" altLang="en-US" sz="500"/>
              <a:t>）</a:t>
            </a:r>
          </a:p>
        </p:txBody>
      </p:sp>
      <p:pic>
        <p:nvPicPr>
          <p:cNvPr id="503" name="図 502">
            <a:extLst>
              <a:ext uri="{FF2B5EF4-FFF2-40B4-BE49-F238E27FC236}">
                <a16:creationId xmlns:a16="http://schemas.microsoft.com/office/drawing/2014/main" id="{F946FDF1-7656-470F-B9C8-C64A6229D81C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1723" y="4247741"/>
            <a:ext cx="227389" cy="203971"/>
          </a:xfrm>
          <a:prstGeom prst="rect">
            <a:avLst/>
          </a:prstGeom>
        </p:spPr>
      </p:pic>
      <p:sp>
        <p:nvSpPr>
          <p:cNvPr id="505" name="テキスト ボックス 504">
            <a:extLst>
              <a:ext uri="{FF2B5EF4-FFF2-40B4-BE49-F238E27FC236}">
                <a16:creationId xmlns:a16="http://schemas.microsoft.com/office/drawing/2014/main" id="{74378291-739B-46BF-8AC7-F7C606BA70C5}"/>
              </a:ext>
            </a:extLst>
          </p:cNvPr>
          <p:cNvSpPr txBox="1"/>
          <p:nvPr/>
        </p:nvSpPr>
        <p:spPr>
          <a:xfrm>
            <a:off x="6714127" y="4236207"/>
            <a:ext cx="7681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t>Azure DevOps</a:t>
            </a:r>
          </a:p>
        </p:txBody>
      </p:sp>
      <p:pic>
        <p:nvPicPr>
          <p:cNvPr id="506" name="Picture 5" descr="PC sm">
            <a:extLst>
              <a:ext uri="{FF2B5EF4-FFF2-40B4-BE49-F238E27FC236}">
                <a16:creationId xmlns:a16="http://schemas.microsoft.com/office/drawing/2014/main" id="{2625C6FE-F04A-4FF1-9C41-AF6EC628B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752" y="2889388"/>
            <a:ext cx="253731" cy="252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7" name="Picture 25" descr="Bule User sm">
            <a:extLst>
              <a:ext uri="{FF2B5EF4-FFF2-40B4-BE49-F238E27FC236}">
                <a16:creationId xmlns:a16="http://schemas.microsoft.com/office/drawing/2014/main" id="{19B9C57C-8B37-4015-8D8A-C8D87F2E0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987" y="2967028"/>
            <a:ext cx="128703" cy="171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8" name="テキスト ボックス 507">
            <a:extLst>
              <a:ext uri="{FF2B5EF4-FFF2-40B4-BE49-F238E27FC236}">
                <a16:creationId xmlns:a16="http://schemas.microsoft.com/office/drawing/2014/main" id="{09540F9B-8584-4563-AFE1-5FBD2ED59D86}"/>
              </a:ext>
            </a:extLst>
          </p:cNvPr>
          <p:cNvSpPr txBox="1"/>
          <p:nvPr/>
        </p:nvSpPr>
        <p:spPr>
          <a:xfrm>
            <a:off x="8155364" y="3143033"/>
            <a:ext cx="6206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00"/>
              <a:t>社外</a:t>
            </a:r>
          </a:p>
          <a:p>
            <a:r>
              <a:rPr kumimoji="1" lang="ja-JP" altLang="en-US" sz="700"/>
              <a:t>インフラ</a:t>
            </a:r>
            <a:endParaRPr kumimoji="1" lang="en-US" altLang="ja-JP" sz="700"/>
          </a:p>
          <a:p>
            <a:r>
              <a:rPr kumimoji="1" lang="ja-JP" altLang="en-US" sz="700"/>
              <a:t>開発チーム</a:t>
            </a:r>
          </a:p>
        </p:txBody>
      </p:sp>
      <p:sp>
        <p:nvSpPr>
          <p:cNvPr id="513" name="正方形/長方形 512">
            <a:extLst>
              <a:ext uri="{FF2B5EF4-FFF2-40B4-BE49-F238E27FC236}">
                <a16:creationId xmlns:a16="http://schemas.microsoft.com/office/drawing/2014/main" id="{20D6A74F-31DE-4624-9FD3-4A0DA57FE7BE}"/>
              </a:ext>
            </a:extLst>
          </p:cNvPr>
          <p:cNvSpPr/>
          <p:nvPr/>
        </p:nvSpPr>
        <p:spPr bwMode="auto">
          <a:xfrm>
            <a:off x="6615705" y="2893688"/>
            <a:ext cx="986773" cy="552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515" name="四角形: 角を丸くする 514">
            <a:extLst>
              <a:ext uri="{FF2B5EF4-FFF2-40B4-BE49-F238E27FC236}">
                <a16:creationId xmlns:a16="http://schemas.microsoft.com/office/drawing/2014/main" id="{44201DCF-D528-4CDD-BB63-2A511AC7DAE7}"/>
              </a:ext>
            </a:extLst>
          </p:cNvPr>
          <p:cNvSpPr/>
          <p:nvPr/>
        </p:nvSpPr>
        <p:spPr>
          <a:xfrm>
            <a:off x="6546543" y="2806008"/>
            <a:ext cx="508872" cy="158620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700"/>
              <a:t>PoC </a:t>
            </a:r>
            <a:r>
              <a:rPr lang="ja-JP" altLang="en-US" sz="700"/>
              <a:t>環境</a:t>
            </a:r>
          </a:p>
        </p:txBody>
      </p:sp>
      <p:pic>
        <p:nvPicPr>
          <p:cNvPr id="517" name="グラフィックス 516">
            <a:extLst>
              <a:ext uri="{FF2B5EF4-FFF2-40B4-BE49-F238E27FC236}">
                <a16:creationId xmlns:a16="http://schemas.microsoft.com/office/drawing/2014/main" id="{5EFDE69C-5F93-447A-9E59-1BB4AC6866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37510" y="3054397"/>
            <a:ext cx="239961" cy="239961"/>
          </a:xfrm>
          <a:prstGeom prst="rect">
            <a:avLst/>
          </a:prstGeom>
        </p:spPr>
      </p:pic>
      <p:pic>
        <p:nvPicPr>
          <p:cNvPr id="521" name="グラフィックス 520">
            <a:extLst>
              <a:ext uri="{FF2B5EF4-FFF2-40B4-BE49-F238E27FC236}">
                <a16:creationId xmlns:a16="http://schemas.microsoft.com/office/drawing/2014/main" id="{2DA35700-BA0A-4421-83A3-7E1680E588F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36151" y="3042103"/>
            <a:ext cx="227771" cy="227771"/>
          </a:xfrm>
          <a:prstGeom prst="rect">
            <a:avLst/>
          </a:prstGeom>
        </p:spPr>
      </p:pic>
      <p:pic>
        <p:nvPicPr>
          <p:cNvPr id="523" name="グラフィックス 522">
            <a:extLst>
              <a:ext uri="{FF2B5EF4-FFF2-40B4-BE49-F238E27FC236}">
                <a16:creationId xmlns:a16="http://schemas.microsoft.com/office/drawing/2014/main" id="{0AA377B3-7E08-4DD1-8BFF-65FCE4E167A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298903" y="3027224"/>
            <a:ext cx="257528" cy="257528"/>
          </a:xfrm>
          <a:prstGeom prst="rect">
            <a:avLst/>
          </a:prstGeom>
        </p:spPr>
      </p:pic>
      <p:sp>
        <p:nvSpPr>
          <p:cNvPr id="525" name="矢印: 右 524">
            <a:extLst>
              <a:ext uri="{FF2B5EF4-FFF2-40B4-BE49-F238E27FC236}">
                <a16:creationId xmlns:a16="http://schemas.microsoft.com/office/drawing/2014/main" id="{B4C22C8F-43B6-4D7D-AC29-AADD678EAB8C}"/>
              </a:ext>
            </a:extLst>
          </p:cNvPr>
          <p:cNvSpPr/>
          <p:nvPr/>
        </p:nvSpPr>
        <p:spPr bwMode="auto">
          <a:xfrm rot="10800000">
            <a:off x="7683138" y="3076638"/>
            <a:ext cx="426178" cy="157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527" name="テキスト ボックス 526">
            <a:extLst>
              <a:ext uri="{FF2B5EF4-FFF2-40B4-BE49-F238E27FC236}">
                <a16:creationId xmlns:a16="http://schemas.microsoft.com/office/drawing/2014/main" id="{BAB362AB-8FF1-44D3-B73C-71EAD613E7E1}"/>
              </a:ext>
            </a:extLst>
          </p:cNvPr>
          <p:cNvSpPr txBox="1"/>
          <p:nvPr/>
        </p:nvSpPr>
        <p:spPr>
          <a:xfrm>
            <a:off x="7737239" y="2904365"/>
            <a:ext cx="3642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/>
              <a:t>構築</a:t>
            </a:r>
          </a:p>
        </p:txBody>
      </p:sp>
      <p:pic>
        <p:nvPicPr>
          <p:cNvPr id="529" name="Picture 3" descr="PowerShell">
            <a:extLst>
              <a:ext uri="{FF2B5EF4-FFF2-40B4-BE49-F238E27FC236}">
                <a16:creationId xmlns:a16="http://schemas.microsoft.com/office/drawing/2014/main" id="{01510E14-5275-4733-97E6-CD252BA0D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384" y="3139536"/>
            <a:ext cx="196650" cy="19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1" name="グラフィックス 530">
            <a:extLst>
              <a:ext uri="{FF2B5EF4-FFF2-40B4-BE49-F238E27FC236}">
                <a16:creationId xmlns:a16="http://schemas.microsoft.com/office/drawing/2014/main" id="{A501270E-9415-4537-A81E-B80C87642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2614" y="1435473"/>
            <a:ext cx="253191" cy="253191"/>
          </a:xfrm>
          <a:prstGeom prst="rect">
            <a:avLst/>
          </a:prstGeom>
        </p:spPr>
      </p:pic>
      <p:sp>
        <p:nvSpPr>
          <p:cNvPr id="533" name="テキスト ボックス 532">
            <a:extLst>
              <a:ext uri="{FF2B5EF4-FFF2-40B4-BE49-F238E27FC236}">
                <a16:creationId xmlns:a16="http://schemas.microsoft.com/office/drawing/2014/main" id="{9920E03B-7AA3-4B8D-9E7C-1D92BD26A7B0}"/>
              </a:ext>
            </a:extLst>
          </p:cNvPr>
          <p:cNvSpPr txBox="1"/>
          <p:nvPr/>
        </p:nvSpPr>
        <p:spPr>
          <a:xfrm>
            <a:off x="6657270" y="1441302"/>
            <a:ext cx="1075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VDC </a:t>
            </a:r>
            <a:r>
              <a:rPr kumimoji="1" lang="ja-JP" altLang="en-US" sz="700" dirty="0"/>
              <a:t>管理用</a:t>
            </a:r>
            <a:r>
              <a:rPr lang="en-US" altLang="ja-JP" sz="700" dirty="0"/>
              <a:t> Azure AD</a:t>
            </a:r>
            <a:endParaRPr kumimoji="1" lang="ja-JP" altLang="en-US" sz="700" dirty="0"/>
          </a:p>
        </p:txBody>
      </p:sp>
      <p:pic>
        <p:nvPicPr>
          <p:cNvPr id="535" name="Picture 25" descr="Bule User sm">
            <a:extLst>
              <a:ext uri="{FF2B5EF4-FFF2-40B4-BE49-F238E27FC236}">
                <a16:creationId xmlns:a16="http://schemas.microsoft.com/office/drawing/2014/main" id="{1A2B1710-7F06-4313-ABAA-578DF8306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672" y="1666678"/>
            <a:ext cx="128703" cy="171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9" name="正方形/長方形 618">
            <a:extLst>
              <a:ext uri="{FF2B5EF4-FFF2-40B4-BE49-F238E27FC236}">
                <a16:creationId xmlns:a16="http://schemas.microsoft.com/office/drawing/2014/main" id="{647DBD40-55F1-45A7-BA94-523F25C40154}"/>
              </a:ext>
            </a:extLst>
          </p:cNvPr>
          <p:cNvSpPr/>
          <p:nvPr/>
        </p:nvSpPr>
        <p:spPr bwMode="auto">
          <a:xfrm>
            <a:off x="650907" y="2307398"/>
            <a:ext cx="337681" cy="32316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cxnSp>
        <p:nvCxnSpPr>
          <p:cNvPr id="625" name="直線コネクタ 624">
            <a:extLst>
              <a:ext uri="{FF2B5EF4-FFF2-40B4-BE49-F238E27FC236}">
                <a16:creationId xmlns:a16="http://schemas.microsoft.com/office/drawing/2014/main" id="{A0753B1D-B801-4B78-BEB3-921A5E4754CD}"/>
              </a:ext>
            </a:extLst>
          </p:cNvPr>
          <p:cNvCxnSpPr>
            <a:cxnSpLocks/>
            <a:endCxn id="619" idx="3"/>
          </p:cNvCxnSpPr>
          <p:nvPr/>
        </p:nvCxnSpPr>
        <p:spPr bwMode="auto">
          <a:xfrm flipH="1" flipV="1">
            <a:off x="988588" y="2468981"/>
            <a:ext cx="150974" cy="198814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7" name="正方形/長方形 646">
            <a:extLst>
              <a:ext uri="{FF2B5EF4-FFF2-40B4-BE49-F238E27FC236}">
                <a16:creationId xmlns:a16="http://schemas.microsoft.com/office/drawing/2014/main" id="{BFB025F1-F342-444D-B3FC-6568834DE1E9}"/>
              </a:ext>
            </a:extLst>
          </p:cNvPr>
          <p:cNvSpPr/>
          <p:nvPr/>
        </p:nvSpPr>
        <p:spPr bwMode="auto">
          <a:xfrm>
            <a:off x="650907" y="2865182"/>
            <a:ext cx="337681" cy="32316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652" name="グループ化 651">
            <a:extLst>
              <a:ext uri="{FF2B5EF4-FFF2-40B4-BE49-F238E27FC236}">
                <a16:creationId xmlns:a16="http://schemas.microsoft.com/office/drawing/2014/main" id="{22124CFC-55A3-4180-BE27-D58838D902EA}"/>
              </a:ext>
            </a:extLst>
          </p:cNvPr>
          <p:cNvGrpSpPr/>
          <p:nvPr/>
        </p:nvGrpSpPr>
        <p:grpSpPr>
          <a:xfrm>
            <a:off x="1139561" y="2388799"/>
            <a:ext cx="282811" cy="720793"/>
            <a:chOff x="1209675" y="2962275"/>
            <a:chExt cx="190500" cy="1129490"/>
          </a:xfrm>
        </p:grpSpPr>
        <p:sp>
          <p:nvSpPr>
            <p:cNvPr id="649" name="楕円 648">
              <a:extLst>
                <a:ext uri="{FF2B5EF4-FFF2-40B4-BE49-F238E27FC236}">
                  <a16:creationId xmlns:a16="http://schemas.microsoft.com/office/drawing/2014/main" id="{B1424356-C595-4CE6-B8D5-0C884D31CBF4}"/>
                </a:ext>
              </a:extLst>
            </p:cNvPr>
            <p:cNvSpPr/>
            <p:nvPr/>
          </p:nvSpPr>
          <p:spPr bwMode="auto">
            <a:xfrm>
              <a:off x="1209675" y="2962275"/>
              <a:ext cx="190500" cy="112949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endParaRPr>
            </a:p>
          </p:txBody>
        </p:sp>
        <p:cxnSp>
          <p:nvCxnSpPr>
            <p:cNvPr id="650" name="直線コネクタ 649">
              <a:extLst>
                <a:ext uri="{FF2B5EF4-FFF2-40B4-BE49-F238E27FC236}">
                  <a16:creationId xmlns:a16="http://schemas.microsoft.com/office/drawing/2014/main" id="{AFC486FE-034C-4FF0-9153-573474597EDF}"/>
                </a:ext>
              </a:extLst>
            </p:cNvPr>
            <p:cNvCxnSpPr>
              <a:stCxn id="49" idx="7"/>
              <a:endCxn id="49" idx="3"/>
            </p:cNvCxnSpPr>
            <p:nvPr/>
          </p:nvCxnSpPr>
          <p:spPr bwMode="auto">
            <a:xfrm flipH="1">
              <a:off x="1237573" y="3127685"/>
              <a:ext cx="134704" cy="79867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99CCFF">
                          <a:gamma/>
                          <a:tint val="33725"/>
                          <a:invGamma/>
                        </a:srgbClr>
                      </a:gs>
                      <a:gs pos="50000">
                        <a:srgbClr val="99CCFF"/>
                      </a:gs>
                      <a:gs pos="100000">
                        <a:srgbClr val="99CCFF">
                          <a:gamma/>
                          <a:tint val="33725"/>
                          <a:invGamma/>
                        </a:srgbClr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1" name="直線コネクタ 650">
              <a:extLst>
                <a:ext uri="{FF2B5EF4-FFF2-40B4-BE49-F238E27FC236}">
                  <a16:creationId xmlns:a16="http://schemas.microsoft.com/office/drawing/2014/main" id="{E070511C-A13D-4694-960F-FBC1513EBCA3}"/>
                </a:ext>
              </a:extLst>
            </p:cNvPr>
            <p:cNvCxnSpPr>
              <a:stCxn id="49" idx="1"/>
              <a:endCxn id="49" idx="5"/>
            </p:cNvCxnSpPr>
            <p:nvPr/>
          </p:nvCxnSpPr>
          <p:spPr bwMode="auto">
            <a:xfrm>
              <a:off x="1237573" y="3127685"/>
              <a:ext cx="134704" cy="79867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99CCFF">
                          <a:gamma/>
                          <a:tint val="33725"/>
                          <a:invGamma/>
                        </a:srgbClr>
                      </a:gs>
                      <a:gs pos="50000">
                        <a:srgbClr val="99CCFF"/>
                      </a:gs>
                      <a:gs pos="100000">
                        <a:srgbClr val="99CCFF">
                          <a:gamma/>
                          <a:tint val="33725"/>
                          <a:invGamma/>
                        </a:srgbClr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54" name="直線コネクタ 653">
            <a:extLst>
              <a:ext uri="{FF2B5EF4-FFF2-40B4-BE49-F238E27FC236}">
                <a16:creationId xmlns:a16="http://schemas.microsoft.com/office/drawing/2014/main" id="{6052106F-B959-4306-A197-B8769384AB85}"/>
              </a:ext>
            </a:extLst>
          </p:cNvPr>
          <p:cNvCxnSpPr>
            <a:cxnSpLocks/>
          </p:cNvCxnSpPr>
          <p:nvPr/>
        </p:nvCxnSpPr>
        <p:spPr bwMode="auto">
          <a:xfrm flipH="1">
            <a:off x="988588" y="2862133"/>
            <a:ext cx="150974" cy="198814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" name="正方形/長方形 654">
            <a:extLst>
              <a:ext uri="{FF2B5EF4-FFF2-40B4-BE49-F238E27FC236}">
                <a16:creationId xmlns:a16="http://schemas.microsoft.com/office/drawing/2014/main" id="{D558300C-C35C-4B02-94FE-5E03D1BC083A}"/>
              </a:ext>
            </a:extLst>
          </p:cNvPr>
          <p:cNvSpPr/>
          <p:nvPr/>
        </p:nvSpPr>
        <p:spPr bwMode="auto">
          <a:xfrm>
            <a:off x="1527588" y="2496631"/>
            <a:ext cx="447559" cy="50740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t>DC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cxnSp>
        <p:nvCxnSpPr>
          <p:cNvPr id="656" name="直線コネクタ 655">
            <a:extLst>
              <a:ext uri="{FF2B5EF4-FFF2-40B4-BE49-F238E27FC236}">
                <a16:creationId xmlns:a16="http://schemas.microsoft.com/office/drawing/2014/main" id="{ECF93920-CD1F-4FB5-9522-8EAB843ACE83}"/>
              </a:ext>
            </a:extLst>
          </p:cNvPr>
          <p:cNvCxnSpPr>
            <a:cxnSpLocks/>
            <a:stCxn id="655" idx="1"/>
            <a:endCxn id="649" idx="6"/>
          </p:cNvCxnSpPr>
          <p:nvPr/>
        </p:nvCxnSpPr>
        <p:spPr bwMode="auto">
          <a:xfrm flipH="1" flipV="1">
            <a:off x="1422372" y="2749196"/>
            <a:ext cx="105216" cy="1137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6" name="正方形/長方形 665">
            <a:extLst>
              <a:ext uri="{FF2B5EF4-FFF2-40B4-BE49-F238E27FC236}">
                <a16:creationId xmlns:a16="http://schemas.microsoft.com/office/drawing/2014/main" id="{1730A531-A894-4CEE-A9F4-2765F2C73955}"/>
              </a:ext>
            </a:extLst>
          </p:cNvPr>
          <p:cNvSpPr/>
          <p:nvPr/>
        </p:nvSpPr>
        <p:spPr bwMode="auto">
          <a:xfrm>
            <a:off x="2193117" y="2601558"/>
            <a:ext cx="381391" cy="295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t>Hub</a:t>
            </a:r>
            <a:endParaRPr kumimoji="1" lang="ja-JP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68" name="正方形/長方形 667">
            <a:extLst>
              <a:ext uri="{FF2B5EF4-FFF2-40B4-BE49-F238E27FC236}">
                <a16:creationId xmlns:a16="http://schemas.microsoft.com/office/drawing/2014/main" id="{3CD1F45B-0BEF-46FD-870F-50574DD43B99}"/>
              </a:ext>
            </a:extLst>
          </p:cNvPr>
          <p:cNvSpPr/>
          <p:nvPr/>
        </p:nvSpPr>
        <p:spPr bwMode="auto">
          <a:xfrm>
            <a:off x="2792478" y="2374708"/>
            <a:ext cx="472879" cy="295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t>Spoke</a:t>
            </a:r>
            <a:endParaRPr kumimoji="1" lang="ja-JP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670" name="グラフィックス 669">
            <a:extLst>
              <a:ext uri="{FF2B5EF4-FFF2-40B4-BE49-F238E27FC236}">
                <a16:creationId xmlns:a16="http://schemas.microsoft.com/office/drawing/2014/main" id="{346D6BEC-1B7E-4C76-BF82-609EC6FE6DA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93324" y="2453808"/>
            <a:ext cx="164886" cy="164886"/>
          </a:xfrm>
          <a:prstGeom prst="rect">
            <a:avLst/>
          </a:prstGeom>
        </p:spPr>
      </p:pic>
      <p:pic>
        <p:nvPicPr>
          <p:cNvPr id="672" name="グラフィックス 671">
            <a:extLst>
              <a:ext uri="{FF2B5EF4-FFF2-40B4-BE49-F238E27FC236}">
                <a16:creationId xmlns:a16="http://schemas.microsoft.com/office/drawing/2014/main" id="{A214BE98-3E7D-45F0-BE5B-D5C7785CF94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796506" y="2226958"/>
            <a:ext cx="164886" cy="164886"/>
          </a:xfrm>
          <a:prstGeom prst="rect">
            <a:avLst/>
          </a:prstGeom>
        </p:spPr>
      </p:pic>
      <p:cxnSp>
        <p:nvCxnSpPr>
          <p:cNvPr id="674" name="直線コネクタ 673">
            <a:extLst>
              <a:ext uri="{FF2B5EF4-FFF2-40B4-BE49-F238E27FC236}">
                <a16:creationId xmlns:a16="http://schemas.microsoft.com/office/drawing/2014/main" id="{FC92D418-766B-4B2D-AC8C-6C542E22B66B}"/>
              </a:ext>
            </a:extLst>
          </p:cNvPr>
          <p:cNvCxnSpPr>
            <a:cxnSpLocks/>
            <a:stCxn id="666" idx="3"/>
            <a:endCxn id="668" idx="1"/>
          </p:cNvCxnSpPr>
          <p:nvPr/>
        </p:nvCxnSpPr>
        <p:spPr bwMode="auto">
          <a:xfrm flipV="1">
            <a:off x="2574508" y="2522346"/>
            <a:ext cx="217970" cy="226850"/>
          </a:xfrm>
          <a:prstGeom prst="line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76" name="グラフィックス 675">
            <a:extLst>
              <a:ext uri="{FF2B5EF4-FFF2-40B4-BE49-F238E27FC236}">
                <a16:creationId xmlns:a16="http://schemas.microsoft.com/office/drawing/2014/main" id="{4C1409F0-BEAC-4B26-B990-EEBF13A29679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58145" y="2424522"/>
            <a:ext cx="113414" cy="113414"/>
          </a:xfrm>
          <a:prstGeom prst="rect">
            <a:avLst/>
          </a:prstGeom>
        </p:spPr>
      </p:pic>
      <p:pic>
        <p:nvPicPr>
          <p:cNvPr id="686" name="Picture 2" descr="image004">
            <a:extLst>
              <a:ext uri="{FF2B5EF4-FFF2-40B4-BE49-F238E27FC236}">
                <a16:creationId xmlns:a16="http://schemas.microsoft.com/office/drawing/2014/main" id="{3B28F131-864C-4D68-BD73-05983EB05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145" y="2435915"/>
            <a:ext cx="154519" cy="15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4" name="円柱 693">
            <a:extLst>
              <a:ext uri="{FF2B5EF4-FFF2-40B4-BE49-F238E27FC236}">
                <a16:creationId xmlns:a16="http://schemas.microsoft.com/office/drawing/2014/main" id="{337B6698-3F2D-4670-92F0-4357383C373D}"/>
              </a:ext>
            </a:extLst>
          </p:cNvPr>
          <p:cNvSpPr/>
          <p:nvPr/>
        </p:nvSpPr>
        <p:spPr bwMode="auto">
          <a:xfrm rot="16200000">
            <a:off x="2032588" y="2602795"/>
            <a:ext cx="95491" cy="282046"/>
          </a:xfrm>
          <a:prstGeom prst="can">
            <a:avLst/>
          </a:prstGeom>
          <a:solidFill>
            <a:schemeClr val="accent3">
              <a:lumMod val="95000"/>
            </a:schemeClr>
          </a:solidFill>
          <a:ln w="63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696" name="テキスト ボックス 695">
            <a:extLst>
              <a:ext uri="{FF2B5EF4-FFF2-40B4-BE49-F238E27FC236}">
                <a16:creationId xmlns:a16="http://schemas.microsoft.com/office/drawing/2014/main" id="{1E541C8D-F117-450D-A0AD-55D43A2310E2}"/>
              </a:ext>
            </a:extLst>
          </p:cNvPr>
          <p:cNvSpPr txBox="1"/>
          <p:nvPr/>
        </p:nvSpPr>
        <p:spPr>
          <a:xfrm>
            <a:off x="1854149" y="2785169"/>
            <a:ext cx="4523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/>
              <a:t>ER PP</a:t>
            </a:r>
            <a:endParaRPr kumimoji="1" lang="ja-JP" altLang="en-US" sz="700"/>
          </a:p>
        </p:txBody>
      </p:sp>
      <p:sp>
        <p:nvSpPr>
          <p:cNvPr id="700" name="正方形/長方形 699">
            <a:extLst>
              <a:ext uri="{FF2B5EF4-FFF2-40B4-BE49-F238E27FC236}">
                <a16:creationId xmlns:a16="http://schemas.microsoft.com/office/drawing/2014/main" id="{8BF4AA12-E9A2-4597-8FDA-D55EB50373C3}"/>
              </a:ext>
            </a:extLst>
          </p:cNvPr>
          <p:cNvSpPr/>
          <p:nvPr/>
        </p:nvSpPr>
        <p:spPr bwMode="auto">
          <a:xfrm>
            <a:off x="3642377" y="2247819"/>
            <a:ext cx="986773" cy="552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pic>
        <p:nvPicPr>
          <p:cNvPr id="701" name="グラフィックス 700">
            <a:extLst>
              <a:ext uri="{FF2B5EF4-FFF2-40B4-BE49-F238E27FC236}">
                <a16:creationId xmlns:a16="http://schemas.microsoft.com/office/drawing/2014/main" id="{8D1C1936-8D0E-40F4-8939-A6B2D432E7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64182" y="2408528"/>
            <a:ext cx="239961" cy="239961"/>
          </a:xfrm>
          <a:prstGeom prst="rect">
            <a:avLst/>
          </a:prstGeom>
        </p:spPr>
      </p:pic>
      <p:pic>
        <p:nvPicPr>
          <p:cNvPr id="702" name="グラフィックス 701">
            <a:extLst>
              <a:ext uri="{FF2B5EF4-FFF2-40B4-BE49-F238E27FC236}">
                <a16:creationId xmlns:a16="http://schemas.microsoft.com/office/drawing/2014/main" id="{80C3FA58-1716-4A3B-9110-42C1E152701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62823" y="2396234"/>
            <a:ext cx="227771" cy="227771"/>
          </a:xfrm>
          <a:prstGeom prst="rect">
            <a:avLst/>
          </a:prstGeom>
        </p:spPr>
      </p:pic>
      <p:pic>
        <p:nvPicPr>
          <p:cNvPr id="703" name="グラフィックス 702">
            <a:extLst>
              <a:ext uri="{FF2B5EF4-FFF2-40B4-BE49-F238E27FC236}">
                <a16:creationId xmlns:a16="http://schemas.microsoft.com/office/drawing/2014/main" id="{B259A22C-DFD1-4F79-A058-58028DC3A38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25575" y="2381355"/>
            <a:ext cx="257528" cy="257528"/>
          </a:xfrm>
          <a:prstGeom prst="rect">
            <a:avLst/>
          </a:prstGeom>
        </p:spPr>
      </p:pic>
      <p:cxnSp>
        <p:nvCxnSpPr>
          <p:cNvPr id="705" name="直線コネクタ 704">
            <a:extLst>
              <a:ext uri="{FF2B5EF4-FFF2-40B4-BE49-F238E27FC236}">
                <a16:creationId xmlns:a16="http://schemas.microsoft.com/office/drawing/2014/main" id="{63560EA5-42C5-458E-AD61-A4ADF5FD1B82}"/>
              </a:ext>
            </a:extLst>
          </p:cNvPr>
          <p:cNvCxnSpPr>
            <a:cxnSpLocks/>
          </p:cNvCxnSpPr>
          <p:nvPr/>
        </p:nvCxnSpPr>
        <p:spPr bwMode="auto">
          <a:xfrm>
            <a:off x="3243664" y="2522346"/>
            <a:ext cx="516117" cy="0"/>
          </a:xfrm>
          <a:prstGeom prst="line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7" name="四角形: 角を丸くする 706">
            <a:extLst>
              <a:ext uri="{FF2B5EF4-FFF2-40B4-BE49-F238E27FC236}">
                <a16:creationId xmlns:a16="http://schemas.microsoft.com/office/drawing/2014/main" id="{72123294-79E1-4AD0-9118-05414EBB0F52}"/>
              </a:ext>
            </a:extLst>
          </p:cNvPr>
          <p:cNvSpPr/>
          <p:nvPr/>
        </p:nvSpPr>
        <p:spPr>
          <a:xfrm>
            <a:off x="3607240" y="2149462"/>
            <a:ext cx="508872" cy="158620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700"/>
              <a:t>本番環境</a:t>
            </a:r>
          </a:p>
        </p:txBody>
      </p:sp>
      <p:sp>
        <p:nvSpPr>
          <p:cNvPr id="708" name="正方形/長方形 707">
            <a:extLst>
              <a:ext uri="{FF2B5EF4-FFF2-40B4-BE49-F238E27FC236}">
                <a16:creationId xmlns:a16="http://schemas.microsoft.com/office/drawing/2014/main" id="{707A472F-66ED-4A5E-808E-2A4F78A157F9}"/>
              </a:ext>
            </a:extLst>
          </p:cNvPr>
          <p:cNvSpPr/>
          <p:nvPr/>
        </p:nvSpPr>
        <p:spPr bwMode="auto">
          <a:xfrm>
            <a:off x="650907" y="4209081"/>
            <a:ext cx="337681" cy="32316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cxnSp>
        <p:nvCxnSpPr>
          <p:cNvPr id="709" name="直線コネクタ 708">
            <a:extLst>
              <a:ext uri="{FF2B5EF4-FFF2-40B4-BE49-F238E27FC236}">
                <a16:creationId xmlns:a16="http://schemas.microsoft.com/office/drawing/2014/main" id="{AF438788-997C-4C25-92A6-2C847CB69A4E}"/>
              </a:ext>
            </a:extLst>
          </p:cNvPr>
          <p:cNvCxnSpPr>
            <a:cxnSpLocks/>
            <a:endCxn id="708" idx="3"/>
          </p:cNvCxnSpPr>
          <p:nvPr/>
        </p:nvCxnSpPr>
        <p:spPr bwMode="auto">
          <a:xfrm flipH="1" flipV="1">
            <a:off x="988588" y="4370664"/>
            <a:ext cx="150974" cy="198814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0" name="正方形/長方形 709">
            <a:extLst>
              <a:ext uri="{FF2B5EF4-FFF2-40B4-BE49-F238E27FC236}">
                <a16:creationId xmlns:a16="http://schemas.microsoft.com/office/drawing/2014/main" id="{9B3A6E79-0EDF-4F16-AF99-E8E7B5B6A13A}"/>
              </a:ext>
            </a:extLst>
          </p:cNvPr>
          <p:cNvSpPr/>
          <p:nvPr/>
        </p:nvSpPr>
        <p:spPr bwMode="auto">
          <a:xfrm>
            <a:off x="650907" y="4766865"/>
            <a:ext cx="337681" cy="32316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711" name="グループ化 710">
            <a:extLst>
              <a:ext uri="{FF2B5EF4-FFF2-40B4-BE49-F238E27FC236}">
                <a16:creationId xmlns:a16="http://schemas.microsoft.com/office/drawing/2014/main" id="{2C5A008D-FD2F-4EB0-B8DE-387E6E2BFBFE}"/>
              </a:ext>
            </a:extLst>
          </p:cNvPr>
          <p:cNvGrpSpPr/>
          <p:nvPr/>
        </p:nvGrpSpPr>
        <p:grpSpPr>
          <a:xfrm>
            <a:off x="1139561" y="4290482"/>
            <a:ext cx="282811" cy="720793"/>
            <a:chOff x="1209675" y="2962275"/>
            <a:chExt cx="190500" cy="1129490"/>
          </a:xfrm>
        </p:grpSpPr>
        <p:sp>
          <p:nvSpPr>
            <p:cNvPr id="712" name="楕円 711">
              <a:extLst>
                <a:ext uri="{FF2B5EF4-FFF2-40B4-BE49-F238E27FC236}">
                  <a16:creationId xmlns:a16="http://schemas.microsoft.com/office/drawing/2014/main" id="{18087E77-265A-4886-8EB3-31A056B8596C}"/>
                </a:ext>
              </a:extLst>
            </p:cNvPr>
            <p:cNvSpPr/>
            <p:nvPr/>
          </p:nvSpPr>
          <p:spPr bwMode="auto">
            <a:xfrm>
              <a:off x="1209675" y="2962275"/>
              <a:ext cx="190500" cy="112949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endParaRPr>
            </a:p>
          </p:txBody>
        </p:sp>
        <p:cxnSp>
          <p:nvCxnSpPr>
            <p:cNvPr id="713" name="直線コネクタ 712">
              <a:extLst>
                <a:ext uri="{FF2B5EF4-FFF2-40B4-BE49-F238E27FC236}">
                  <a16:creationId xmlns:a16="http://schemas.microsoft.com/office/drawing/2014/main" id="{B77E8304-F658-4D1D-B3C4-CE713EDED2DA}"/>
                </a:ext>
              </a:extLst>
            </p:cNvPr>
            <p:cNvCxnSpPr/>
            <p:nvPr/>
          </p:nvCxnSpPr>
          <p:spPr bwMode="auto">
            <a:xfrm flipH="1">
              <a:off x="1237573" y="3127685"/>
              <a:ext cx="134704" cy="79867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99CCFF">
                          <a:gamma/>
                          <a:tint val="33725"/>
                          <a:invGamma/>
                        </a:srgbClr>
                      </a:gs>
                      <a:gs pos="50000">
                        <a:srgbClr val="99CCFF"/>
                      </a:gs>
                      <a:gs pos="100000">
                        <a:srgbClr val="99CCFF">
                          <a:gamma/>
                          <a:tint val="33725"/>
                          <a:invGamma/>
                        </a:srgbClr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4" name="直線コネクタ 713">
              <a:extLst>
                <a:ext uri="{FF2B5EF4-FFF2-40B4-BE49-F238E27FC236}">
                  <a16:creationId xmlns:a16="http://schemas.microsoft.com/office/drawing/2014/main" id="{BB7F71BA-B761-4CEA-9E2C-12776975A401}"/>
                </a:ext>
              </a:extLst>
            </p:cNvPr>
            <p:cNvCxnSpPr/>
            <p:nvPr/>
          </p:nvCxnSpPr>
          <p:spPr bwMode="auto">
            <a:xfrm>
              <a:off x="1237573" y="3127685"/>
              <a:ext cx="134704" cy="79867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99CCFF">
                          <a:gamma/>
                          <a:tint val="33725"/>
                          <a:invGamma/>
                        </a:srgbClr>
                      </a:gs>
                      <a:gs pos="50000">
                        <a:srgbClr val="99CCFF"/>
                      </a:gs>
                      <a:gs pos="100000">
                        <a:srgbClr val="99CCFF">
                          <a:gamma/>
                          <a:tint val="33725"/>
                          <a:invGamma/>
                        </a:srgbClr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715" name="直線コネクタ 714">
            <a:extLst>
              <a:ext uri="{FF2B5EF4-FFF2-40B4-BE49-F238E27FC236}">
                <a16:creationId xmlns:a16="http://schemas.microsoft.com/office/drawing/2014/main" id="{19316993-55D1-4675-95CC-F0BC701EF32A}"/>
              </a:ext>
            </a:extLst>
          </p:cNvPr>
          <p:cNvCxnSpPr>
            <a:cxnSpLocks/>
          </p:cNvCxnSpPr>
          <p:nvPr/>
        </p:nvCxnSpPr>
        <p:spPr bwMode="auto">
          <a:xfrm flipH="1">
            <a:off x="988588" y="4763816"/>
            <a:ext cx="150974" cy="198814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6" name="正方形/長方形 715">
            <a:extLst>
              <a:ext uri="{FF2B5EF4-FFF2-40B4-BE49-F238E27FC236}">
                <a16:creationId xmlns:a16="http://schemas.microsoft.com/office/drawing/2014/main" id="{B88BEBA4-90BB-42C9-9FDF-683A46F29DF8}"/>
              </a:ext>
            </a:extLst>
          </p:cNvPr>
          <p:cNvSpPr/>
          <p:nvPr/>
        </p:nvSpPr>
        <p:spPr bwMode="auto">
          <a:xfrm>
            <a:off x="1527588" y="4398314"/>
            <a:ext cx="447559" cy="50740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t>DC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cxnSp>
        <p:nvCxnSpPr>
          <p:cNvPr id="717" name="直線コネクタ 716">
            <a:extLst>
              <a:ext uri="{FF2B5EF4-FFF2-40B4-BE49-F238E27FC236}">
                <a16:creationId xmlns:a16="http://schemas.microsoft.com/office/drawing/2014/main" id="{1B6651D0-84F5-49C7-B02D-3EBEEA2E43D8}"/>
              </a:ext>
            </a:extLst>
          </p:cNvPr>
          <p:cNvCxnSpPr>
            <a:cxnSpLocks/>
            <a:stCxn id="716" idx="1"/>
            <a:endCxn id="712" idx="6"/>
          </p:cNvCxnSpPr>
          <p:nvPr/>
        </p:nvCxnSpPr>
        <p:spPr bwMode="auto">
          <a:xfrm flipH="1" flipV="1">
            <a:off x="1422372" y="4650879"/>
            <a:ext cx="105216" cy="1137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8" name="正方形/長方形 717">
            <a:extLst>
              <a:ext uri="{FF2B5EF4-FFF2-40B4-BE49-F238E27FC236}">
                <a16:creationId xmlns:a16="http://schemas.microsoft.com/office/drawing/2014/main" id="{A7D4D30A-3C29-4A7D-8722-59F3EE5A3673}"/>
              </a:ext>
            </a:extLst>
          </p:cNvPr>
          <p:cNvSpPr/>
          <p:nvPr/>
        </p:nvSpPr>
        <p:spPr bwMode="auto">
          <a:xfrm>
            <a:off x="2193117" y="4503241"/>
            <a:ext cx="381391" cy="295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t>Hub</a:t>
            </a:r>
            <a:endParaRPr kumimoji="1" lang="ja-JP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719" name="正方形/長方形 718">
            <a:extLst>
              <a:ext uri="{FF2B5EF4-FFF2-40B4-BE49-F238E27FC236}">
                <a16:creationId xmlns:a16="http://schemas.microsoft.com/office/drawing/2014/main" id="{0322C8E7-2A3F-460E-A6CE-17DD72FA557E}"/>
              </a:ext>
            </a:extLst>
          </p:cNvPr>
          <p:cNvSpPr/>
          <p:nvPr/>
        </p:nvSpPr>
        <p:spPr bwMode="auto">
          <a:xfrm>
            <a:off x="2792478" y="4276391"/>
            <a:ext cx="472879" cy="295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t>Spoke</a:t>
            </a:r>
            <a:endParaRPr kumimoji="1" lang="ja-JP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720" name="グラフィックス 719">
            <a:extLst>
              <a:ext uri="{FF2B5EF4-FFF2-40B4-BE49-F238E27FC236}">
                <a16:creationId xmlns:a16="http://schemas.microsoft.com/office/drawing/2014/main" id="{F5071B29-170D-46C7-B35C-A560957187E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93324" y="4355491"/>
            <a:ext cx="164886" cy="164886"/>
          </a:xfrm>
          <a:prstGeom prst="rect">
            <a:avLst/>
          </a:prstGeom>
        </p:spPr>
      </p:pic>
      <p:pic>
        <p:nvPicPr>
          <p:cNvPr id="721" name="グラフィックス 720">
            <a:extLst>
              <a:ext uri="{FF2B5EF4-FFF2-40B4-BE49-F238E27FC236}">
                <a16:creationId xmlns:a16="http://schemas.microsoft.com/office/drawing/2014/main" id="{BE713564-F532-4248-8850-8D6837572FD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796506" y="4128641"/>
            <a:ext cx="164886" cy="164886"/>
          </a:xfrm>
          <a:prstGeom prst="rect">
            <a:avLst/>
          </a:prstGeom>
        </p:spPr>
      </p:pic>
      <p:cxnSp>
        <p:nvCxnSpPr>
          <p:cNvPr id="722" name="直線コネクタ 721">
            <a:extLst>
              <a:ext uri="{FF2B5EF4-FFF2-40B4-BE49-F238E27FC236}">
                <a16:creationId xmlns:a16="http://schemas.microsoft.com/office/drawing/2014/main" id="{382D2E21-9115-47FB-B1B2-BF8EAF005AD8}"/>
              </a:ext>
            </a:extLst>
          </p:cNvPr>
          <p:cNvCxnSpPr>
            <a:cxnSpLocks/>
            <a:stCxn id="718" idx="3"/>
            <a:endCxn id="719" idx="1"/>
          </p:cNvCxnSpPr>
          <p:nvPr/>
        </p:nvCxnSpPr>
        <p:spPr bwMode="auto">
          <a:xfrm flipV="1">
            <a:off x="2574508" y="4424029"/>
            <a:ext cx="217970" cy="226850"/>
          </a:xfrm>
          <a:prstGeom prst="line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23" name="グラフィックス 722">
            <a:extLst>
              <a:ext uri="{FF2B5EF4-FFF2-40B4-BE49-F238E27FC236}">
                <a16:creationId xmlns:a16="http://schemas.microsoft.com/office/drawing/2014/main" id="{39E6BFD8-DD26-4D78-81CC-4882E2FA84BE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58145" y="4326205"/>
            <a:ext cx="113414" cy="113414"/>
          </a:xfrm>
          <a:prstGeom prst="rect">
            <a:avLst/>
          </a:prstGeom>
        </p:spPr>
      </p:pic>
      <p:pic>
        <p:nvPicPr>
          <p:cNvPr id="724" name="Picture 2" descr="image004">
            <a:extLst>
              <a:ext uri="{FF2B5EF4-FFF2-40B4-BE49-F238E27FC236}">
                <a16:creationId xmlns:a16="http://schemas.microsoft.com/office/drawing/2014/main" id="{81BD5068-C207-4289-8E05-B1E32CB87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145" y="4337598"/>
            <a:ext cx="154519" cy="15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5" name="円柱 724">
            <a:extLst>
              <a:ext uri="{FF2B5EF4-FFF2-40B4-BE49-F238E27FC236}">
                <a16:creationId xmlns:a16="http://schemas.microsoft.com/office/drawing/2014/main" id="{A8D2A6E2-889D-4EB4-87A8-BD2BC5C95731}"/>
              </a:ext>
            </a:extLst>
          </p:cNvPr>
          <p:cNvSpPr/>
          <p:nvPr/>
        </p:nvSpPr>
        <p:spPr bwMode="auto">
          <a:xfrm rot="16200000">
            <a:off x="2032588" y="4504478"/>
            <a:ext cx="95491" cy="282046"/>
          </a:xfrm>
          <a:prstGeom prst="can">
            <a:avLst/>
          </a:prstGeom>
          <a:solidFill>
            <a:schemeClr val="accent3">
              <a:lumMod val="95000"/>
            </a:schemeClr>
          </a:solidFill>
          <a:ln w="63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726" name="テキスト ボックス 725">
            <a:extLst>
              <a:ext uri="{FF2B5EF4-FFF2-40B4-BE49-F238E27FC236}">
                <a16:creationId xmlns:a16="http://schemas.microsoft.com/office/drawing/2014/main" id="{AF7D2738-01A4-491C-9D97-14B57B5E95FD}"/>
              </a:ext>
            </a:extLst>
          </p:cNvPr>
          <p:cNvSpPr txBox="1"/>
          <p:nvPr/>
        </p:nvSpPr>
        <p:spPr>
          <a:xfrm>
            <a:off x="1854149" y="4686852"/>
            <a:ext cx="4523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/>
              <a:t>ER PP</a:t>
            </a:r>
            <a:endParaRPr kumimoji="1" lang="ja-JP" altLang="en-US" sz="700"/>
          </a:p>
        </p:txBody>
      </p:sp>
      <p:sp>
        <p:nvSpPr>
          <p:cNvPr id="727" name="正方形/長方形 726">
            <a:extLst>
              <a:ext uri="{FF2B5EF4-FFF2-40B4-BE49-F238E27FC236}">
                <a16:creationId xmlns:a16="http://schemas.microsoft.com/office/drawing/2014/main" id="{57C3969B-3FEB-414D-9E1C-9A3D09F0796A}"/>
              </a:ext>
            </a:extLst>
          </p:cNvPr>
          <p:cNvSpPr/>
          <p:nvPr/>
        </p:nvSpPr>
        <p:spPr bwMode="auto">
          <a:xfrm>
            <a:off x="3642377" y="4149502"/>
            <a:ext cx="986773" cy="552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pic>
        <p:nvPicPr>
          <p:cNvPr id="728" name="グラフィックス 727">
            <a:extLst>
              <a:ext uri="{FF2B5EF4-FFF2-40B4-BE49-F238E27FC236}">
                <a16:creationId xmlns:a16="http://schemas.microsoft.com/office/drawing/2014/main" id="{C0FC33CC-D05A-428B-BB91-433AF79CFEC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64182" y="4310211"/>
            <a:ext cx="239961" cy="239961"/>
          </a:xfrm>
          <a:prstGeom prst="rect">
            <a:avLst/>
          </a:prstGeom>
        </p:spPr>
      </p:pic>
      <p:pic>
        <p:nvPicPr>
          <p:cNvPr id="729" name="グラフィックス 728">
            <a:extLst>
              <a:ext uri="{FF2B5EF4-FFF2-40B4-BE49-F238E27FC236}">
                <a16:creationId xmlns:a16="http://schemas.microsoft.com/office/drawing/2014/main" id="{6F33656C-63B5-447D-95A2-9F4C96E0BDC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62823" y="4297917"/>
            <a:ext cx="227771" cy="227771"/>
          </a:xfrm>
          <a:prstGeom prst="rect">
            <a:avLst/>
          </a:prstGeom>
        </p:spPr>
      </p:pic>
      <p:pic>
        <p:nvPicPr>
          <p:cNvPr id="730" name="グラフィックス 729">
            <a:extLst>
              <a:ext uri="{FF2B5EF4-FFF2-40B4-BE49-F238E27FC236}">
                <a16:creationId xmlns:a16="http://schemas.microsoft.com/office/drawing/2014/main" id="{F63C5810-5B7F-4090-A8C4-195B255BA3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25575" y="4283038"/>
            <a:ext cx="257528" cy="257528"/>
          </a:xfrm>
          <a:prstGeom prst="rect">
            <a:avLst/>
          </a:prstGeom>
        </p:spPr>
      </p:pic>
      <p:cxnSp>
        <p:nvCxnSpPr>
          <p:cNvPr id="731" name="直線コネクタ 730">
            <a:extLst>
              <a:ext uri="{FF2B5EF4-FFF2-40B4-BE49-F238E27FC236}">
                <a16:creationId xmlns:a16="http://schemas.microsoft.com/office/drawing/2014/main" id="{51BD8AB7-EF7D-4B2A-9746-ACB919902E19}"/>
              </a:ext>
            </a:extLst>
          </p:cNvPr>
          <p:cNvCxnSpPr>
            <a:cxnSpLocks/>
          </p:cNvCxnSpPr>
          <p:nvPr/>
        </p:nvCxnSpPr>
        <p:spPr bwMode="auto">
          <a:xfrm>
            <a:off x="3243664" y="4424029"/>
            <a:ext cx="516117" cy="0"/>
          </a:xfrm>
          <a:prstGeom prst="line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2" name="四角形: 角を丸くする 731">
            <a:extLst>
              <a:ext uri="{FF2B5EF4-FFF2-40B4-BE49-F238E27FC236}">
                <a16:creationId xmlns:a16="http://schemas.microsoft.com/office/drawing/2014/main" id="{66A06826-5E6F-45A4-B0FA-A44882B000BD}"/>
              </a:ext>
            </a:extLst>
          </p:cNvPr>
          <p:cNvSpPr/>
          <p:nvPr/>
        </p:nvSpPr>
        <p:spPr>
          <a:xfrm>
            <a:off x="3607240" y="4051145"/>
            <a:ext cx="508872" cy="158620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700"/>
              <a:t>開発環境</a:t>
            </a:r>
          </a:p>
        </p:txBody>
      </p:sp>
      <p:sp>
        <p:nvSpPr>
          <p:cNvPr id="739" name="正方形/長方形 738">
            <a:extLst>
              <a:ext uri="{FF2B5EF4-FFF2-40B4-BE49-F238E27FC236}">
                <a16:creationId xmlns:a16="http://schemas.microsoft.com/office/drawing/2014/main" id="{61F6EE43-342E-42C5-BA2D-12A58FBF56DD}"/>
              </a:ext>
            </a:extLst>
          </p:cNvPr>
          <p:cNvSpPr/>
          <p:nvPr/>
        </p:nvSpPr>
        <p:spPr bwMode="auto">
          <a:xfrm>
            <a:off x="2792478" y="2817121"/>
            <a:ext cx="472879" cy="295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t>Spoke</a:t>
            </a:r>
            <a:endParaRPr kumimoji="1" lang="ja-JP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740" name="グラフィックス 739">
            <a:extLst>
              <a:ext uri="{FF2B5EF4-FFF2-40B4-BE49-F238E27FC236}">
                <a16:creationId xmlns:a16="http://schemas.microsoft.com/office/drawing/2014/main" id="{AA5ACCF7-CE20-4C34-944D-47C6BED01C5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796506" y="2669371"/>
            <a:ext cx="164886" cy="164886"/>
          </a:xfrm>
          <a:prstGeom prst="rect">
            <a:avLst/>
          </a:prstGeom>
        </p:spPr>
      </p:pic>
      <p:pic>
        <p:nvPicPr>
          <p:cNvPr id="741" name="Picture 2" descr="image004">
            <a:extLst>
              <a:ext uri="{FF2B5EF4-FFF2-40B4-BE49-F238E27FC236}">
                <a16:creationId xmlns:a16="http://schemas.microsoft.com/office/drawing/2014/main" id="{04461508-6385-46B3-8F0F-B84E0BCA8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145" y="2878328"/>
            <a:ext cx="154519" cy="15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2" name="正方形/長方形 741">
            <a:extLst>
              <a:ext uri="{FF2B5EF4-FFF2-40B4-BE49-F238E27FC236}">
                <a16:creationId xmlns:a16="http://schemas.microsoft.com/office/drawing/2014/main" id="{91AFD32C-FF4D-48C8-9732-7BAAB432C0C2}"/>
              </a:ext>
            </a:extLst>
          </p:cNvPr>
          <p:cNvSpPr/>
          <p:nvPr/>
        </p:nvSpPr>
        <p:spPr bwMode="auto">
          <a:xfrm>
            <a:off x="2792478" y="4718804"/>
            <a:ext cx="472879" cy="295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t>Spoke</a:t>
            </a:r>
            <a:endParaRPr kumimoji="1" lang="ja-JP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743" name="グラフィックス 742">
            <a:extLst>
              <a:ext uri="{FF2B5EF4-FFF2-40B4-BE49-F238E27FC236}">
                <a16:creationId xmlns:a16="http://schemas.microsoft.com/office/drawing/2014/main" id="{2C720F60-6478-4761-BCE6-1780DA7ACF4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796506" y="4571054"/>
            <a:ext cx="164886" cy="164886"/>
          </a:xfrm>
          <a:prstGeom prst="rect">
            <a:avLst/>
          </a:prstGeom>
        </p:spPr>
      </p:pic>
      <p:pic>
        <p:nvPicPr>
          <p:cNvPr id="744" name="Picture 2" descr="image004">
            <a:extLst>
              <a:ext uri="{FF2B5EF4-FFF2-40B4-BE49-F238E27FC236}">
                <a16:creationId xmlns:a16="http://schemas.microsoft.com/office/drawing/2014/main" id="{F7617F4A-DA1C-460A-A215-CA2FF86A8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145" y="4780011"/>
            <a:ext cx="154519" cy="15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45" name="直線コネクタ 744">
            <a:extLst>
              <a:ext uri="{FF2B5EF4-FFF2-40B4-BE49-F238E27FC236}">
                <a16:creationId xmlns:a16="http://schemas.microsoft.com/office/drawing/2014/main" id="{58A43814-365F-431F-B4D2-7A3BC1B1AAAA}"/>
              </a:ext>
            </a:extLst>
          </p:cNvPr>
          <p:cNvCxnSpPr>
            <a:cxnSpLocks/>
            <a:stCxn id="666" idx="3"/>
            <a:endCxn id="739" idx="1"/>
          </p:cNvCxnSpPr>
          <p:nvPr/>
        </p:nvCxnSpPr>
        <p:spPr bwMode="auto">
          <a:xfrm>
            <a:off x="2574508" y="2749196"/>
            <a:ext cx="217970" cy="215563"/>
          </a:xfrm>
          <a:prstGeom prst="line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6" name="直線コネクタ 745">
            <a:extLst>
              <a:ext uri="{FF2B5EF4-FFF2-40B4-BE49-F238E27FC236}">
                <a16:creationId xmlns:a16="http://schemas.microsoft.com/office/drawing/2014/main" id="{BBD461FE-2A26-4143-A64E-4D46EBDFC8CF}"/>
              </a:ext>
            </a:extLst>
          </p:cNvPr>
          <p:cNvCxnSpPr>
            <a:cxnSpLocks/>
            <a:stCxn id="718" idx="3"/>
            <a:endCxn id="742" idx="1"/>
          </p:cNvCxnSpPr>
          <p:nvPr/>
        </p:nvCxnSpPr>
        <p:spPr bwMode="auto">
          <a:xfrm>
            <a:off x="2574508" y="4650879"/>
            <a:ext cx="217970" cy="215563"/>
          </a:xfrm>
          <a:prstGeom prst="line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3" name="直線コネクタ 752">
            <a:extLst>
              <a:ext uri="{FF2B5EF4-FFF2-40B4-BE49-F238E27FC236}">
                <a16:creationId xmlns:a16="http://schemas.microsoft.com/office/drawing/2014/main" id="{475EE2A9-B9DD-4CED-92A3-0ACF1B41B363}"/>
              </a:ext>
            </a:extLst>
          </p:cNvPr>
          <p:cNvCxnSpPr/>
          <p:nvPr/>
        </p:nvCxnSpPr>
        <p:spPr bwMode="auto">
          <a:xfrm>
            <a:off x="600075" y="3636532"/>
            <a:ext cx="5419725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4" name="直線コネクタ 753">
            <a:extLst>
              <a:ext uri="{FF2B5EF4-FFF2-40B4-BE49-F238E27FC236}">
                <a16:creationId xmlns:a16="http://schemas.microsoft.com/office/drawing/2014/main" id="{950BCA73-F884-4D21-8002-C646EAC4BCFF}"/>
              </a:ext>
            </a:extLst>
          </p:cNvPr>
          <p:cNvCxnSpPr/>
          <p:nvPr/>
        </p:nvCxnSpPr>
        <p:spPr bwMode="auto">
          <a:xfrm>
            <a:off x="6015103" y="1057275"/>
            <a:ext cx="0" cy="4962525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61" name="グラフィックス 760">
            <a:extLst>
              <a:ext uri="{FF2B5EF4-FFF2-40B4-BE49-F238E27FC236}">
                <a16:creationId xmlns:a16="http://schemas.microsoft.com/office/drawing/2014/main" id="{4946CAED-71F6-4066-A2B2-76D7497D6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6879" y="1435473"/>
            <a:ext cx="253191" cy="253191"/>
          </a:xfrm>
          <a:prstGeom prst="rect">
            <a:avLst/>
          </a:prstGeom>
        </p:spPr>
      </p:pic>
      <p:sp>
        <p:nvSpPr>
          <p:cNvPr id="762" name="テキスト ボックス 761">
            <a:extLst>
              <a:ext uri="{FF2B5EF4-FFF2-40B4-BE49-F238E27FC236}">
                <a16:creationId xmlns:a16="http://schemas.microsoft.com/office/drawing/2014/main" id="{7A19DA3D-11A1-418D-875A-17B2BA304A49}"/>
              </a:ext>
            </a:extLst>
          </p:cNvPr>
          <p:cNvSpPr txBox="1"/>
          <p:nvPr/>
        </p:nvSpPr>
        <p:spPr>
          <a:xfrm>
            <a:off x="2511535" y="1441302"/>
            <a:ext cx="117051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 dirty="0"/>
              <a:t>本番系 </a:t>
            </a:r>
            <a:r>
              <a:rPr kumimoji="1" lang="en-US" altLang="ja-JP" sz="700" dirty="0"/>
              <a:t>VDC </a:t>
            </a:r>
            <a:r>
              <a:rPr kumimoji="1" lang="ja-JP" altLang="en-US" sz="700" dirty="0"/>
              <a:t>管理用 </a:t>
            </a:r>
            <a:r>
              <a:rPr kumimoji="1" lang="en-US" altLang="ja-JP" sz="700" dirty="0"/>
              <a:t>AAD</a:t>
            </a:r>
            <a:endParaRPr kumimoji="1" lang="ja-JP" altLang="en-US" sz="700" dirty="0"/>
          </a:p>
        </p:txBody>
      </p:sp>
      <p:pic>
        <p:nvPicPr>
          <p:cNvPr id="765" name="グラフィックス 764">
            <a:extLst>
              <a:ext uri="{FF2B5EF4-FFF2-40B4-BE49-F238E27FC236}">
                <a16:creationId xmlns:a16="http://schemas.microsoft.com/office/drawing/2014/main" id="{C3A1FA30-C744-48B6-BF2E-5EE168148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779" y="1435473"/>
            <a:ext cx="253191" cy="253191"/>
          </a:xfrm>
          <a:prstGeom prst="rect">
            <a:avLst/>
          </a:prstGeom>
        </p:spPr>
      </p:pic>
      <p:sp>
        <p:nvSpPr>
          <p:cNvPr id="766" name="テキスト ボックス 765">
            <a:extLst>
              <a:ext uri="{FF2B5EF4-FFF2-40B4-BE49-F238E27FC236}">
                <a16:creationId xmlns:a16="http://schemas.microsoft.com/office/drawing/2014/main" id="{38E94130-E382-4FFC-AD3A-CCAC21E03552}"/>
              </a:ext>
            </a:extLst>
          </p:cNvPr>
          <p:cNvSpPr txBox="1"/>
          <p:nvPr/>
        </p:nvSpPr>
        <p:spPr>
          <a:xfrm>
            <a:off x="949435" y="1441302"/>
            <a:ext cx="7280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/>
              <a:t>O365 </a:t>
            </a:r>
            <a:r>
              <a:rPr kumimoji="1" lang="ja-JP" altLang="en-US" sz="700"/>
              <a:t>用 </a:t>
            </a:r>
            <a:r>
              <a:rPr kumimoji="1" lang="en-US" altLang="ja-JP" sz="700"/>
              <a:t>AAD</a:t>
            </a:r>
            <a:endParaRPr kumimoji="1" lang="ja-JP" altLang="en-US" sz="700"/>
          </a:p>
        </p:txBody>
      </p:sp>
      <p:pic>
        <p:nvPicPr>
          <p:cNvPr id="770" name="Picture 40" descr="user group_s">
            <a:extLst>
              <a:ext uri="{FF2B5EF4-FFF2-40B4-BE49-F238E27FC236}">
                <a16:creationId xmlns:a16="http://schemas.microsoft.com/office/drawing/2014/main" id="{A55E120E-466C-4FED-BE76-0F1A57F0B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74" y="1649545"/>
            <a:ext cx="310008" cy="279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2" name="Picture 26" descr="Yellow User sm">
            <a:extLst>
              <a:ext uri="{FF2B5EF4-FFF2-40B4-BE49-F238E27FC236}">
                <a16:creationId xmlns:a16="http://schemas.microsoft.com/office/drawing/2014/main" id="{0FEE5E65-A99C-4AEF-920F-A15481098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897" y="1645976"/>
            <a:ext cx="127871" cy="17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4" name="図 773">
            <a:extLst>
              <a:ext uri="{FF2B5EF4-FFF2-40B4-BE49-F238E27FC236}">
                <a16:creationId xmlns:a16="http://schemas.microsoft.com/office/drawing/2014/main" id="{0489C840-96DB-41C3-A18B-F0E8A5E2624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CC0099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705143" y="1665584"/>
            <a:ext cx="165660" cy="139932"/>
          </a:xfrm>
          <a:prstGeom prst="rect">
            <a:avLst/>
          </a:prstGeom>
        </p:spPr>
      </p:pic>
      <p:pic>
        <p:nvPicPr>
          <p:cNvPr id="776" name="図 775">
            <a:extLst>
              <a:ext uri="{FF2B5EF4-FFF2-40B4-BE49-F238E27FC236}">
                <a16:creationId xmlns:a16="http://schemas.microsoft.com/office/drawing/2014/main" id="{57511C40-2494-458A-9A02-A4582225A17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922628" y="1665307"/>
            <a:ext cx="165660" cy="139932"/>
          </a:xfrm>
          <a:prstGeom prst="rect">
            <a:avLst/>
          </a:prstGeom>
        </p:spPr>
      </p:pic>
      <p:pic>
        <p:nvPicPr>
          <p:cNvPr id="777" name="Picture 78" descr="図1">
            <a:extLst>
              <a:ext uri="{FF2B5EF4-FFF2-40B4-BE49-F238E27FC236}">
                <a16:creationId xmlns:a16="http://schemas.microsoft.com/office/drawing/2014/main" id="{D2752590-12BD-4A5E-B314-EEAB11DE7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38" y="1639757"/>
            <a:ext cx="127871" cy="17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9" name="Picture 5" descr="PC sm">
            <a:extLst>
              <a:ext uri="{FF2B5EF4-FFF2-40B4-BE49-F238E27FC236}">
                <a16:creationId xmlns:a16="http://schemas.microsoft.com/office/drawing/2014/main" id="{50EE707B-35C6-4EFB-9B65-1CCCF1AA6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86" y="5418118"/>
            <a:ext cx="253731" cy="252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2" name="グラフィックス 791">
            <a:extLst>
              <a:ext uri="{FF2B5EF4-FFF2-40B4-BE49-F238E27FC236}">
                <a16:creationId xmlns:a16="http://schemas.microsoft.com/office/drawing/2014/main" id="{41F8A010-7207-4AE9-98A2-AC9A06D97AA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44930" y="5462126"/>
            <a:ext cx="154491" cy="154491"/>
          </a:xfrm>
          <a:prstGeom prst="rect">
            <a:avLst/>
          </a:prstGeom>
        </p:spPr>
      </p:pic>
      <p:pic>
        <p:nvPicPr>
          <p:cNvPr id="793" name="Picture 4">
            <a:extLst>
              <a:ext uri="{FF2B5EF4-FFF2-40B4-BE49-F238E27FC236}">
                <a16:creationId xmlns:a16="http://schemas.microsoft.com/office/drawing/2014/main" id="{95FF1891-3BF1-433F-BAFB-7638D82FD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202" y="5468666"/>
            <a:ext cx="162638" cy="16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4" name="Picture 6">
            <a:extLst>
              <a:ext uri="{FF2B5EF4-FFF2-40B4-BE49-F238E27FC236}">
                <a16:creationId xmlns:a16="http://schemas.microsoft.com/office/drawing/2014/main" id="{FCEDC1CD-2F89-4167-98DD-0E4C6D304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492" y="5456514"/>
            <a:ext cx="162638" cy="16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95" name="直線矢印コネクタ 794">
            <a:extLst>
              <a:ext uri="{FF2B5EF4-FFF2-40B4-BE49-F238E27FC236}">
                <a16:creationId xmlns:a16="http://schemas.microsoft.com/office/drawing/2014/main" id="{B74F7E52-8DA6-4A48-A41F-9ABED3091383}"/>
              </a:ext>
            </a:extLst>
          </p:cNvPr>
          <p:cNvCxnSpPr>
            <a:cxnSpLocks/>
          </p:cNvCxnSpPr>
          <p:nvPr/>
        </p:nvCxnSpPr>
        <p:spPr bwMode="auto">
          <a:xfrm>
            <a:off x="964363" y="5546880"/>
            <a:ext cx="207212" cy="0"/>
          </a:xfrm>
          <a:prstGeom prst="straightConnector1">
            <a:avLst/>
          </a:prstGeom>
          <a:noFill/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04" name="テキスト ボックス 803">
            <a:extLst>
              <a:ext uri="{FF2B5EF4-FFF2-40B4-BE49-F238E27FC236}">
                <a16:creationId xmlns:a16="http://schemas.microsoft.com/office/drawing/2014/main" id="{2F32DA29-2D82-43F9-90AD-4880B359F461}"/>
              </a:ext>
            </a:extLst>
          </p:cNvPr>
          <p:cNvSpPr txBox="1"/>
          <p:nvPr/>
        </p:nvSpPr>
        <p:spPr>
          <a:xfrm>
            <a:off x="213354" y="5436855"/>
            <a:ext cx="6206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00"/>
              <a:t>社内</a:t>
            </a:r>
          </a:p>
          <a:p>
            <a:r>
              <a:rPr kumimoji="1" lang="ja-JP" altLang="en-US" sz="700"/>
              <a:t>アプリ</a:t>
            </a:r>
            <a:endParaRPr kumimoji="1" lang="en-US" altLang="ja-JP" sz="700"/>
          </a:p>
          <a:p>
            <a:r>
              <a:rPr kumimoji="1" lang="ja-JP" altLang="en-US" sz="700"/>
              <a:t>開発チーム</a:t>
            </a:r>
          </a:p>
        </p:txBody>
      </p:sp>
      <p:pic>
        <p:nvPicPr>
          <p:cNvPr id="805" name="Picture 78" descr="図1">
            <a:extLst>
              <a:ext uri="{FF2B5EF4-FFF2-40B4-BE49-F238E27FC236}">
                <a16:creationId xmlns:a16="http://schemas.microsoft.com/office/drawing/2014/main" id="{1DBB81B6-2AFF-4A12-A01E-800B4F3E9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bg2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538" y="1704176"/>
            <a:ext cx="127871" cy="17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" name="Picture 78" descr="図1">
            <a:extLst>
              <a:ext uri="{FF2B5EF4-FFF2-40B4-BE49-F238E27FC236}">
                <a16:creationId xmlns:a16="http://schemas.microsoft.com/office/drawing/2014/main" id="{CB8F8606-2A09-4A3E-BCB1-36E42295B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bg2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36" y="5516049"/>
            <a:ext cx="127871" cy="17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11" name="直線矢印コネクタ 810">
            <a:extLst>
              <a:ext uri="{FF2B5EF4-FFF2-40B4-BE49-F238E27FC236}">
                <a16:creationId xmlns:a16="http://schemas.microsoft.com/office/drawing/2014/main" id="{67815CC4-F4E8-4B8A-A8C5-CF080EEE4564}"/>
              </a:ext>
            </a:extLst>
          </p:cNvPr>
          <p:cNvCxnSpPr>
            <a:cxnSpLocks/>
          </p:cNvCxnSpPr>
          <p:nvPr/>
        </p:nvCxnSpPr>
        <p:spPr bwMode="auto">
          <a:xfrm>
            <a:off x="1316788" y="5546880"/>
            <a:ext cx="131012" cy="0"/>
          </a:xfrm>
          <a:prstGeom prst="straightConnector1">
            <a:avLst/>
          </a:prstGeom>
          <a:noFill/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3" name="直線矢印コネクタ 812">
            <a:extLst>
              <a:ext uri="{FF2B5EF4-FFF2-40B4-BE49-F238E27FC236}">
                <a16:creationId xmlns:a16="http://schemas.microsoft.com/office/drawing/2014/main" id="{5E9152BE-DF72-4F54-ACFF-B790E8BEC965}"/>
              </a:ext>
            </a:extLst>
          </p:cNvPr>
          <p:cNvCxnSpPr>
            <a:cxnSpLocks/>
          </p:cNvCxnSpPr>
          <p:nvPr/>
        </p:nvCxnSpPr>
        <p:spPr bwMode="auto">
          <a:xfrm>
            <a:off x="1607301" y="5546880"/>
            <a:ext cx="131012" cy="0"/>
          </a:xfrm>
          <a:prstGeom prst="straightConnector1">
            <a:avLst/>
          </a:prstGeom>
          <a:noFill/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15" name="図 814">
            <a:extLst>
              <a:ext uri="{FF2B5EF4-FFF2-40B4-BE49-F238E27FC236}">
                <a16:creationId xmlns:a16="http://schemas.microsoft.com/office/drawing/2014/main" id="{8D6A7ECC-C793-46AE-B0CC-A8AEBF200165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2918" y="5254344"/>
            <a:ext cx="227389" cy="203971"/>
          </a:xfrm>
          <a:prstGeom prst="rect">
            <a:avLst/>
          </a:prstGeom>
        </p:spPr>
      </p:pic>
      <p:sp>
        <p:nvSpPr>
          <p:cNvPr id="816" name="テキスト ボックス 815">
            <a:extLst>
              <a:ext uri="{FF2B5EF4-FFF2-40B4-BE49-F238E27FC236}">
                <a16:creationId xmlns:a16="http://schemas.microsoft.com/office/drawing/2014/main" id="{A0A22A21-467F-4DA6-8A5C-AFFDDF1D2A68}"/>
              </a:ext>
            </a:extLst>
          </p:cNvPr>
          <p:cNvSpPr txBox="1"/>
          <p:nvPr/>
        </p:nvSpPr>
        <p:spPr>
          <a:xfrm>
            <a:off x="1107310" y="5250588"/>
            <a:ext cx="80502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ja-JP" sz="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t>Azure DevOps Server</a:t>
            </a:r>
          </a:p>
        </p:txBody>
      </p:sp>
      <p:pic>
        <p:nvPicPr>
          <p:cNvPr id="819" name="Picture 26" descr="Yellow User sm">
            <a:extLst>
              <a:ext uri="{FF2B5EF4-FFF2-40B4-BE49-F238E27FC236}">
                <a16:creationId xmlns:a16="http://schemas.microsoft.com/office/drawing/2014/main" id="{7EFDD734-B4A8-4D47-AEB8-5CB283C2A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611" y="2226104"/>
            <a:ext cx="127871" cy="17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1" name="矢印: 右 820">
            <a:extLst>
              <a:ext uri="{FF2B5EF4-FFF2-40B4-BE49-F238E27FC236}">
                <a16:creationId xmlns:a16="http://schemas.microsoft.com/office/drawing/2014/main" id="{1EAF350F-4E37-46A4-84C7-06DD38648033}"/>
              </a:ext>
            </a:extLst>
          </p:cNvPr>
          <p:cNvSpPr/>
          <p:nvPr/>
        </p:nvSpPr>
        <p:spPr bwMode="auto">
          <a:xfrm rot="10800000">
            <a:off x="4711850" y="2236043"/>
            <a:ext cx="426178" cy="157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822" name="テキスト ボックス 821">
            <a:extLst>
              <a:ext uri="{FF2B5EF4-FFF2-40B4-BE49-F238E27FC236}">
                <a16:creationId xmlns:a16="http://schemas.microsoft.com/office/drawing/2014/main" id="{56C06901-09D8-4B96-8A30-0E8A97659C1B}"/>
              </a:ext>
            </a:extLst>
          </p:cNvPr>
          <p:cNvSpPr txBox="1"/>
          <p:nvPr/>
        </p:nvSpPr>
        <p:spPr>
          <a:xfrm>
            <a:off x="4765951" y="2134522"/>
            <a:ext cx="3642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/>
              <a:t>構築</a:t>
            </a:r>
          </a:p>
        </p:txBody>
      </p:sp>
      <p:pic>
        <p:nvPicPr>
          <p:cNvPr id="823" name="Picture 3" descr="PowerShell">
            <a:extLst>
              <a:ext uri="{FF2B5EF4-FFF2-40B4-BE49-F238E27FC236}">
                <a16:creationId xmlns:a16="http://schemas.microsoft.com/office/drawing/2014/main" id="{680F4487-4A1E-4EFB-A1AC-07411FFD4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681" y="2276711"/>
            <a:ext cx="196650" cy="19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4" name="Picture 78" descr="図1">
            <a:extLst>
              <a:ext uri="{FF2B5EF4-FFF2-40B4-BE49-F238E27FC236}">
                <a16:creationId xmlns:a16="http://schemas.microsoft.com/office/drawing/2014/main" id="{57DDD4FE-AE47-4BA9-8399-D4BEE1ADA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618" y="2220160"/>
            <a:ext cx="127871" cy="17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30" name="コネクタ: カギ線 829">
            <a:extLst>
              <a:ext uri="{FF2B5EF4-FFF2-40B4-BE49-F238E27FC236}">
                <a16:creationId xmlns:a16="http://schemas.microsoft.com/office/drawing/2014/main" id="{D004113B-344C-435C-A9A3-3595E5A1500D}"/>
              </a:ext>
            </a:extLst>
          </p:cNvPr>
          <p:cNvCxnSpPr>
            <a:stCxn id="506" idx="0"/>
            <a:endCxn id="824" idx="3"/>
          </p:cNvCxnSpPr>
          <p:nvPr/>
        </p:nvCxnSpPr>
        <p:spPr bwMode="auto">
          <a:xfrm rot="16200000" flipV="1">
            <a:off x="6931476" y="1456245"/>
            <a:ext cx="584157" cy="2282129"/>
          </a:xfrm>
          <a:prstGeom prst="bentConnector2">
            <a:avLst/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31" name="Picture 3" descr="PowerShell">
            <a:extLst>
              <a:ext uri="{FF2B5EF4-FFF2-40B4-BE49-F238E27FC236}">
                <a16:creationId xmlns:a16="http://schemas.microsoft.com/office/drawing/2014/main" id="{26A945A3-68BE-458C-B4FB-B51C6E5E2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3929" y="2196821"/>
            <a:ext cx="196650" cy="19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4" name="直線矢印コネクタ 833">
            <a:extLst>
              <a:ext uri="{FF2B5EF4-FFF2-40B4-BE49-F238E27FC236}">
                <a16:creationId xmlns:a16="http://schemas.microsoft.com/office/drawing/2014/main" id="{B9931DB7-A530-427C-AC7C-DF13D48B05E8}"/>
              </a:ext>
            </a:extLst>
          </p:cNvPr>
          <p:cNvCxnSpPr>
            <a:stCxn id="824" idx="1"/>
          </p:cNvCxnSpPr>
          <p:nvPr/>
        </p:nvCxnSpPr>
        <p:spPr bwMode="auto">
          <a:xfrm flipH="1" flipV="1">
            <a:off x="5319688" y="2298924"/>
            <a:ext cx="634930" cy="6307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7" name="コネクタ: カギ線 836">
            <a:extLst>
              <a:ext uri="{FF2B5EF4-FFF2-40B4-BE49-F238E27FC236}">
                <a16:creationId xmlns:a16="http://schemas.microsoft.com/office/drawing/2014/main" id="{6AB05121-195D-4D63-83E4-B7ABAE7BD899}"/>
              </a:ext>
            </a:extLst>
          </p:cNvPr>
          <p:cNvCxnSpPr>
            <a:stCxn id="793" idx="3"/>
            <a:endCxn id="727" idx="2"/>
          </p:cNvCxnSpPr>
          <p:nvPr/>
        </p:nvCxnSpPr>
        <p:spPr bwMode="auto">
          <a:xfrm flipV="1">
            <a:off x="1895840" y="4702057"/>
            <a:ext cx="2239924" cy="847928"/>
          </a:xfrm>
          <a:prstGeom prst="bentConnector2">
            <a:avLst/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43" name="Picture 34" descr="sn">
            <a:extLst>
              <a:ext uri="{FF2B5EF4-FFF2-40B4-BE49-F238E27FC236}">
                <a16:creationId xmlns:a16="http://schemas.microsoft.com/office/drawing/2014/main" id="{081DFE7D-5A28-497E-A0E3-65EB2CB66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243" y="2093976"/>
            <a:ext cx="204787" cy="29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4" name="Picture 34" descr="sn">
            <a:extLst>
              <a:ext uri="{FF2B5EF4-FFF2-40B4-BE49-F238E27FC236}">
                <a16:creationId xmlns:a16="http://schemas.microsoft.com/office/drawing/2014/main" id="{F1516F33-3B12-4B7E-B7F9-8DECF0172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243" y="3976116"/>
            <a:ext cx="204787" cy="29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5" name="Picture 26" descr="Yellow User sm">
            <a:extLst>
              <a:ext uri="{FF2B5EF4-FFF2-40B4-BE49-F238E27FC236}">
                <a16:creationId xmlns:a16="http://schemas.microsoft.com/office/drawing/2014/main" id="{6C2C6E02-2B78-4AF4-B7A8-6599E2E6B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611" y="4139022"/>
            <a:ext cx="127871" cy="17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6" name="矢印: 右 845">
            <a:extLst>
              <a:ext uri="{FF2B5EF4-FFF2-40B4-BE49-F238E27FC236}">
                <a16:creationId xmlns:a16="http://schemas.microsoft.com/office/drawing/2014/main" id="{0E65168E-23B5-4B44-BA97-5E51E9DB7F53}"/>
              </a:ext>
            </a:extLst>
          </p:cNvPr>
          <p:cNvSpPr/>
          <p:nvPr/>
        </p:nvSpPr>
        <p:spPr bwMode="auto">
          <a:xfrm rot="10800000">
            <a:off x="4711850" y="4148961"/>
            <a:ext cx="426178" cy="157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847" name="テキスト ボックス 846">
            <a:extLst>
              <a:ext uri="{FF2B5EF4-FFF2-40B4-BE49-F238E27FC236}">
                <a16:creationId xmlns:a16="http://schemas.microsoft.com/office/drawing/2014/main" id="{548A5FE4-3741-431B-ADA3-856AF73A39DF}"/>
              </a:ext>
            </a:extLst>
          </p:cNvPr>
          <p:cNvSpPr txBox="1"/>
          <p:nvPr/>
        </p:nvSpPr>
        <p:spPr>
          <a:xfrm>
            <a:off x="4765951" y="4047440"/>
            <a:ext cx="3642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/>
              <a:t>構築</a:t>
            </a:r>
          </a:p>
        </p:txBody>
      </p:sp>
      <p:pic>
        <p:nvPicPr>
          <p:cNvPr id="848" name="Picture 3" descr="PowerShell">
            <a:extLst>
              <a:ext uri="{FF2B5EF4-FFF2-40B4-BE49-F238E27FC236}">
                <a16:creationId xmlns:a16="http://schemas.microsoft.com/office/drawing/2014/main" id="{DB31FDBA-17D6-4B45-BC52-EDA9726F2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681" y="4189629"/>
            <a:ext cx="196650" cy="19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50" name="コネクタ: カギ線 849">
            <a:extLst>
              <a:ext uri="{FF2B5EF4-FFF2-40B4-BE49-F238E27FC236}">
                <a16:creationId xmlns:a16="http://schemas.microsoft.com/office/drawing/2014/main" id="{65506A21-0940-4FB4-AD2E-1DAD4C6364AE}"/>
              </a:ext>
            </a:extLst>
          </p:cNvPr>
          <p:cNvCxnSpPr>
            <a:stCxn id="824" idx="1"/>
            <a:endCxn id="845" idx="3"/>
          </p:cNvCxnSpPr>
          <p:nvPr/>
        </p:nvCxnSpPr>
        <p:spPr bwMode="auto">
          <a:xfrm rot="10800000" flipV="1">
            <a:off x="5348482" y="2305231"/>
            <a:ext cx="606136" cy="1919640"/>
          </a:xfrm>
          <a:prstGeom prst="bentConnector3">
            <a:avLst>
              <a:gd name="adj1" fmla="val 16057"/>
            </a:avLst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54" name="Picture 3" descr="PowerShell">
            <a:extLst>
              <a:ext uri="{FF2B5EF4-FFF2-40B4-BE49-F238E27FC236}">
                <a16:creationId xmlns:a16="http://schemas.microsoft.com/office/drawing/2014/main" id="{C9E00524-CB8A-4C50-BAF8-7FE7B4FCB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669" y="2218599"/>
            <a:ext cx="196650" cy="19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6" name="Picture 3" descr="PowerShell">
            <a:extLst>
              <a:ext uri="{FF2B5EF4-FFF2-40B4-BE49-F238E27FC236}">
                <a16:creationId xmlns:a16="http://schemas.microsoft.com/office/drawing/2014/main" id="{823C96CA-10F0-45CC-8E74-4606A5C5D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669" y="4131517"/>
            <a:ext cx="196650" cy="19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8" name="Picture 12" descr="websetupproj">
            <a:extLst>
              <a:ext uri="{FF2B5EF4-FFF2-40B4-BE49-F238E27FC236}">
                <a16:creationId xmlns:a16="http://schemas.microsoft.com/office/drawing/2014/main" id="{ACC9FBDF-07B6-474C-A56B-B0072D27A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302" y="5448232"/>
            <a:ext cx="221126" cy="22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71" name="直線コネクタ 870">
            <a:extLst>
              <a:ext uri="{FF2B5EF4-FFF2-40B4-BE49-F238E27FC236}">
                <a16:creationId xmlns:a16="http://schemas.microsoft.com/office/drawing/2014/main" id="{D1EE6B32-9C25-494A-B6E1-BF56BCE2A29E}"/>
              </a:ext>
            </a:extLst>
          </p:cNvPr>
          <p:cNvCxnSpPr/>
          <p:nvPr/>
        </p:nvCxnSpPr>
        <p:spPr bwMode="auto">
          <a:xfrm>
            <a:off x="1905000" y="5469142"/>
            <a:ext cx="1592580" cy="0"/>
          </a:xfrm>
          <a:prstGeom prst="line">
            <a:avLst/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3" name="直線コネクタ 872">
            <a:extLst>
              <a:ext uri="{FF2B5EF4-FFF2-40B4-BE49-F238E27FC236}">
                <a16:creationId xmlns:a16="http://schemas.microsoft.com/office/drawing/2014/main" id="{50B2ABD8-FE52-40B6-A20F-6BE5826D65BB}"/>
              </a:ext>
            </a:extLst>
          </p:cNvPr>
          <p:cNvCxnSpPr/>
          <p:nvPr/>
        </p:nvCxnSpPr>
        <p:spPr bwMode="auto">
          <a:xfrm flipV="1">
            <a:off x="3494304" y="3396502"/>
            <a:ext cx="0" cy="2072641"/>
          </a:xfrm>
          <a:prstGeom prst="line">
            <a:avLst/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6" name="直線コネクタ 875">
            <a:extLst>
              <a:ext uri="{FF2B5EF4-FFF2-40B4-BE49-F238E27FC236}">
                <a16:creationId xmlns:a16="http://schemas.microsoft.com/office/drawing/2014/main" id="{5CC9EB61-D7D9-4856-B52F-F2436A9386F1}"/>
              </a:ext>
            </a:extLst>
          </p:cNvPr>
          <p:cNvCxnSpPr/>
          <p:nvPr/>
        </p:nvCxnSpPr>
        <p:spPr bwMode="auto">
          <a:xfrm>
            <a:off x="3497580" y="3404122"/>
            <a:ext cx="556260" cy="0"/>
          </a:xfrm>
          <a:prstGeom prst="line">
            <a:avLst/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83" name="Picture 78" descr="図1">
            <a:extLst>
              <a:ext uri="{FF2B5EF4-FFF2-40B4-BE49-F238E27FC236}">
                <a16:creationId xmlns:a16="http://schemas.microsoft.com/office/drawing/2014/main" id="{11607289-EB99-4E38-9A76-7223EA94F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368" y="3558531"/>
            <a:ext cx="127871" cy="17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5" name="Picture 26" descr="Yellow User sm">
            <a:extLst>
              <a:ext uri="{FF2B5EF4-FFF2-40B4-BE49-F238E27FC236}">
                <a16:creationId xmlns:a16="http://schemas.microsoft.com/office/drawing/2014/main" id="{314FDAEE-9D23-4457-A473-3948C207A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416" y="3301574"/>
            <a:ext cx="127871" cy="17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7" name="テキスト ボックス 886">
            <a:extLst>
              <a:ext uri="{FF2B5EF4-FFF2-40B4-BE49-F238E27FC236}">
                <a16:creationId xmlns:a16="http://schemas.microsoft.com/office/drawing/2014/main" id="{0D1C32C0-D8EC-4346-906F-6DED1EBB8B4D}"/>
              </a:ext>
            </a:extLst>
          </p:cNvPr>
          <p:cNvSpPr txBox="1"/>
          <p:nvPr/>
        </p:nvSpPr>
        <p:spPr>
          <a:xfrm>
            <a:off x="818327" y="3543523"/>
            <a:ext cx="992579" cy="200055"/>
          </a:xfrm>
          <a:prstGeom prst="rect">
            <a:avLst/>
          </a:prstGeom>
          <a:solidFill>
            <a:srgbClr val="FFEBFF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700"/>
              <a:t>開発／運用分離境界</a:t>
            </a:r>
          </a:p>
        </p:txBody>
      </p:sp>
      <p:sp>
        <p:nvSpPr>
          <p:cNvPr id="888" name="テキスト ボックス 887">
            <a:extLst>
              <a:ext uri="{FF2B5EF4-FFF2-40B4-BE49-F238E27FC236}">
                <a16:creationId xmlns:a16="http://schemas.microsoft.com/office/drawing/2014/main" id="{592D3194-FFCE-4BAD-8949-FE234BB3CAB9}"/>
              </a:ext>
            </a:extLst>
          </p:cNvPr>
          <p:cNvSpPr txBox="1"/>
          <p:nvPr/>
        </p:nvSpPr>
        <p:spPr>
          <a:xfrm>
            <a:off x="5710109" y="5012090"/>
            <a:ext cx="633507" cy="307777"/>
          </a:xfrm>
          <a:prstGeom prst="rect">
            <a:avLst/>
          </a:prstGeom>
          <a:solidFill>
            <a:srgbClr val="FFEBFF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700"/>
              <a:t>社内／社外</a:t>
            </a:r>
            <a:endParaRPr kumimoji="1" lang="en-US" altLang="ja-JP" sz="700"/>
          </a:p>
          <a:p>
            <a:pPr algn="ctr"/>
            <a:r>
              <a:rPr kumimoji="1" lang="ja-JP" altLang="en-US" sz="700"/>
              <a:t>分離境界</a:t>
            </a:r>
          </a:p>
        </p:txBody>
      </p:sp>
      <p:cxnSp>
        <p:nvCxnSpPr>
          <p:cNvPr id="889" name="直線矢印コネクタ 888">
            <a:extLst>
              <a:ext uri="{FF2B5EF4-FFF2-40B4-BE49-F238E27FC236}">
                <a16:creationId xmlns:a16="http://schemas.microsoft.com/office/drawing/2014/main" id="{C92DB294-8DCE-4913-ADFD-625274634A78}"/>
              </a:ext>
            </a:extLst>
          </p:cNvPr>
          <p:cNvCxnSpPr/>
          <p:nvPr/>
        </p:nvCxnSpPr>
        <p:spPr bwMode="auto">
          <a:xfrm flipH="1">
            <a:off x="6073140" y="4599958"/>
            <a:ext cx="655320" cy="0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94" name="Picture 26" descr="Yellow User sm">
            <a:extLst>
              <a:ext uri="{FF2B5EF4-FFF2-40B4-BE49-F238E27FC236}">
                <a16:creationId xmlns:a16="http://schemas.microsoft.com/office/drawing/2014/main" id="{BF97B511-6D71-4BBD-8DDB-F4962FD29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611" y="4527769"/>
            <a:ext cx="127871" cy="17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5" name="Picture 78" descr="図1">
            <a:extLst>
              <a:ext uri="{FF2B5EF4-FFF2-40B4-BE49-F238E27FC236}">
                <a16:creationId xmlns:a16="http://schemas.microsoft.com/office/drawing/2014/main" id="{9A697B2A-3A19-4815-A377-D4DD69189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618" y="4521825"/>
            <a:ext cx="127871" cy="17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6" name="矢印: 右 895">
            <a:extLst>
              <a:ext uri="{FF2B5EF4-FFF2-40B4-BE49-F238E27FC236}">
                <a16:creationId xmlns:a16="http://schemas.microsoft.com/office/drawing/2014/main" id="{D8124B0F-1E94-4948-9B0E-59C5CA44401D}"/>
              </a:ext>
            </a:extLst>
          </p:cNvPr>
          <p:cNvSpPr/>
          <p:nvPr/>
        </p:nvSpPr>
        <p:spPr bwMode="auto">
          <a:xfrm rot="16200000">
            <a:off x="3904473" y="2959425"/>
            <a:ext cx="426178" cy="157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pic>
        <p:nvPicPr>
          <p:cNvPr id="899" name="Picture 12" descr="websetupproj">
            <a:extLst>
              <a:ext uri="{FF2B5EF4-FFF2-40B4-BE49-F238E27FC236}">
                <a16:creationId xmlns:a16="http://schemas.microsoft.com/office/drawing/2014/main" id="{47192E0C-B3D1-40A6-B56B-EE68744CB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287" y="2955760"/>
            <a:ext cx="221126" cy="22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0" name="テキスト ボックス 899">
            <a:extLst>
              <a:ext uri="{FF2B5EF4-FFF2-40B4-BE49-F238E27FC236}">
                <a16:creationId xmlns:a16="http://schemas.microsoft.com/office/drawing/2014/main" id="{9100D1A3-3C61-45FA-AA93-1F9EC7AF5604}"/>
              </a:ext>
            </a:extLst>
          </p:cNvPr>
          <p:cNvSpPr txBox="1"/>
          <p:nvPr/>
        </p:nvSpPr>
        <p:spPr>
          <a:xfrm>
            <a:off x="3790361" y="2977152"/>
            <a:ext cx="3642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/>
              <a:t>配置</a:t>
            </a:r>
          </a:p>
        </p:txBody>
      </p:sp>
      <p:cxnSp>
        <p:nvCxnSpPr>
          <p:cNvPr id="902" name="直線矢印コネクタ 901">
            <a:extLst>
              <a:ext uri="{FF2B5EF4-FFF2-40B4-BE49-F238E27FC236}">
                <a16:creationId xmlns:a16="http://schemas.microsoft.com/office/drawing/2014/main" id="{4C768A58-9326-481E-A132-E9DAC1809B8C}"/>
              </a:ext>
            </a:extLst>
          </p:cNvPr>
          <p:cNvCxnSpPr/>
          <p:nvPr/>
        </p:nvCxnSpPr>
        <p:spPr bwMode="auto">
          <a:xfrm flipH="1">
            <a:off x="5364480" y="4599958"/>
            <a:ext cx="579120" cy="0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04" name="Picture 12" descr="websetupproj">
            <a:extLst>
              <a:ext uri="{FF2B5EF4-FFF2-40B4-BE49-F238E27FC236}">
                <a16:creationId xmlns:a16="http://schemas.microsoft.com/office/drawing/2014/main" id="{152120AB-D866-4B84-927C-B2FEE9A64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872" y="4502621"/>
            <a:ext cx="221126" cy="22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5" name="矢印: 右 904">
            <a:extLst>
              <a:ext uri="{FF2B5EF4-FFF2-40B4-BE49-F238E27FC236}">
                <a16:creationId xmlns:a16="http://schemas.microsoft.com/office/drawing/2014/main" id="{F206026A-A97F-404E-BA09-DFE04F5A69D9}"/>
              </a:ext>
            </a:extLst>
          </p:cNvPr>
          <p:cNvSpPr/>
          <p:nvPr/>
        </p:nvSpPr>
        <p:spPr bwMode="auto">
          <a:xfrm rot="10800000">
            <a:off x="4711850" y="4514721"/>
            <a:ext cx="426178" cy="157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06" name="テキスト ボックス 905">
            <a:extLst>
              <a:ext uri="{FF2B5EF4-FFF2-40B4-BE49-F238E27FC236}">
                <a16:creationId xmlns:a16="http://schemas.microsoft.com/office/drawing/2014/main" id="{7F49FAFD-028B-4A30-8887-B1ED2E905E90}"/>
              </a:ext>
            </a:extLst>
          </p:cNvPr>
          <p:cNvSpPr txBox="1"/>
          <p:nvPr/>
        </p:nvSpPr>
        <p:spPr>
          <a:xfrm>
            <a:off x="4765951" y="4413200"/>
            <a:ext cx="3642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/>
              <a:t>配置</a:t>
            </a:r>
          </a:p>
        </p:txBody>
      </p:sp>
      <p:pic>
        <p:nvPicPr>
          <p:cNvPr id="909" name="Picture 12" descr="websetupproj">
            <a:extLst>
              <a:ext uri="{FF2B5EF4-FFF2-40B4-BE49-F238E27FC236}">
                <a16:creationId xmlns:a16="http://schemas.microsoft.com/office/drawing/2014/main" id="{C5892A6B-A650-4F8F-9B49-8B12C192B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026" y="4570440"/>
            <a:ext cx="221126" cy="22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2" name="Picture 26" descr="Yellow User sm">
            <a:extLst>
              <a:ext uri="{FF2B5EF4-FFF2-40B4-BE49-F238E27FC236}">
                <a16:creationId xmlns:a16="http://schemas.microsoft.com/office/drawing/2014/main" id="{90683294-E6E5-4B4D-A14E-453CEEB16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611" y="2599909"/>
            <a:ext cx="127871" cy="17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3" name="Picture 12" descr="websetupproj">
            <a:extLst>
              <a:ext uri="{FF2B5EF4-FFF2-40B4-BE49-F238E27FC236}">
                <a16:creationId xmlns:a16="http://schemas.microsoft.com/office/drawing/2014/main" id="{4A2668D7-2267-4F6F-B54C-8F6D52903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872" y="2574761"/>
            <a:ext cx="221126" cy="22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4" name="矢印: 右 913">
            <a:extLst>
              <a:ext uri="{FF2B5EF4-FFF2-40B4-BE49-F238E27FC236}">
                <a16:creationId xmlns:a16="http://schemas.microsoft.com/office/drawing/2014/main" id="{D2AAB57C-F2E1-4469-8BC3-4D392BB321C9}"/>
              </a:ext>
            </a:extLst>
          </p:cNvPr>
          <p:cNvSpPr/>
          <p:nvPr/>
        </p:nvSpPr>
        <p:spPr bwMode="auto">
          <a:xfrm rot="10800000">
            <a:off x="4711850" y="2586861"/>
            <a:ext cx="426178" cy="157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15" name="テキスト ボックス 914">
            <a:extLst>
              <a:ext uri="{FF2B5EF4-FFF2-40B4-BE49-F238E27FC236}">
                <a16:creationId xmlns:a16="http://schemas.microsoft.com/office/drawing/2014/main" id="{6F0732FE-EEA7-40A7-B34B-89A6F642412E}"/>
              </a:ext>
            </a:extLst>
          </p:cNvPr>
          <p:cNvSpPr txBox="1"/>
          <p:nvPr/>
        </p:nvSpPr>
        <p:spPr>
          <a:xfrm>
            <a:off x="4765951" y="2485340"/>
            <a:ext cx="3642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/>
              <a:t>配置</a:t>
            </a:r>
          </a:p>
        </p:txBody>
      </p:sp>
      <p:pic>
        <p:nvPicPr>
          <p:cNvPr id="916" name="Picture 12" descr="websetupproj">
            <a:extLst>
              <a:ext uri="{FF2B5EF4-FFF2-40B4-BE49-F238E27FC236}">
                <a16:creationId xmlns:a16="http://schemas.microsoft.com/office/drawing/2014/main" id="{D298B08C-EA5B-4E1E-BBD2-EFF619280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026" y="2642580"/>
            <a:ext cx="221126" cy="22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18" name="コネクタ: カギ線 917">
            <a:extLst>
              <a:ext uri="{FF2B5EF4-FFF2-40B4-BE49-F238E27FC236}">
                <a16:creationId xmlns:a16="http://schemas.microsoft.com/office/drawing/2014/main" id="{302AA9AB-770D-4734-A2DB-59B18EBE6FE5}"/>
              </a:ext>
            </a:extLst>
          </p:cNvPr>
          <p:cNvCxnSpPr>
            <a:stCxn id="895" idx="1"/>
            <a:endCxn id="912" idx="3"/>
          </p:cNvCxnSpPr>
          <p:nvPr/>
        </p:nvCxnSpPr>
        <p:spPr bwMode="auto">
          <a:xfrm rot="10800000">
            <a:off x="5348482" y="2685758"/>
            <a:ext cx="606136" cy="1921138"/>
          </a:xfrm>
          <a:prstGeom prst="bentConnector3">
            <a:avLst>
              <a:gd name="adj1" fmla="val 4743"/>
            </a:avLst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24" name="Picture 12" descr="websetupproj">
            <a:extLst>
              <a:ext uri="{FF2B5EF4-FFF2-40B4-BE49-F238E27FC236}">
                <a16:creationId xmlns:a16="http://schemas.microsoft.com/office/drawing/2014/main" id="{ACCE7CB0-5B0B-4442-9832-882825F4F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187" y="3322397"/>
            <a:ext cx="221126" cy="22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5" name="直線矢印コネクタ 924">
            <a:extLst>
              <a:ext uri="{FF2B5EF4-FFF2-40B4-BE49-F238E27FC236}">
                <a16:creationId xmlns:a16="http://schemas.microsoft.com/office/drawing/2014/main" id="{4B258868-CC72-43C8-8A53-F12BD6323448}"/>
              </a:ext>
            </a:extLst>
          </p:cNvPr>
          <p:cNvCxnSpPr/>
          <p:nvPr/>
        </p:nvCxnSpPr>
        <p:spPr bwMode="auto">
          <a:xfrm flipV="1">
            <a:off x="6887385" y="3446389"/>
            <a:ext cx="0" cy="1030140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28" name="Picture 12" descr="websetupproj">
            <a:extLst>
              <a:ext uri="{FF2B5EF4-FFF2-40B4-BE49-F238E27FC236}">
                <a16:creationId xmlns:a16="http://schemas.microsoft.com/office/drawing/2014/main" id="{712A2F66-D6AA-4682-BBD3-32390B361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374" y="3719054"/>
            <a:ext cx="221126" cy="22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32" name="Group 53">
            <a:extLst>
              <a:ext uri="{FF2B5EF4-FFF2-40B4-BE49-F238E27FC236}">
                <a16:creationId xmlns:a16="http://schemas.microsoft.com/office/drawing/2014/main" id="{5A55BF39-4265-4A38-9CA7-054603D2E46D}"/>
              </a:ext>
            </a:extLst>
          </p:cNvPr>
          <p:cNvGrpSpPr>
            <a:grpSpLocks/>
          </p:cNvGrpSpPr>
          <p:nvPr/>
        </p:nvGrpSpPr>
        <p:grpSpPr bwMode="auto">
          <a:xfrm>
            <a:off x="1588416" y="6139769"/>
            <a:ext cx="250191" cy="367690"/>
            <a:chOff x="748" y="1979"/>
            <a:chExt cx="494" cy="726"/>
          </a:xfrm>
        </p:grpSpPr>
        <p:pic>
          <p:nvPicPr>
            <p:cNvPr id="930" name="Picture 54" descr="Server sm">
              <a:extLst>
                <a:ext uri="{FF2B5EF4-FFF2-40B4-BE49-F238E27FC236}">
                  <a16:creationId xmlns:a16="http://schemas.microsoft.com/office/drawing/2014/main" id="{7C2F446E-466E-46F0-8C16-7878858CD1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" y="1979"/>
              <a:ext cx="494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1" name="Picture 55" descr="XML Web Service sm">
              <a:extLst>
                <a:ext uri="{FF2B5EF4-FFF2-40B4-BE49-F238E27FC236}">
                  <a16:creationId xmlns:a16="http://schemas.microsoft.com/office/drawing/2014/main" id="{A898B69C-E23F-4950-9DC0-1382EA6FD6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" y="2432"/>
              <a:ext cx="227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34" name="Picture 62" descr="Tools sm">
            <a:extLst>
              <a:ext uri="{FF2B5EF4-FFF2-40B4-BE49-F238E27FC236}">
                <a16:creationId xmlns:a16="http://schemas.microsoft.com/office/drawing/2014/main" id="{8FDF5683-AEBA-44D2-A7BD-55973EC17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239" y="6265062"/>
            <a:ext cx="184872" cy="276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38" name="Group 53">
            <a:extLst>
              <a:ext uri="{FF2B5EF4-FFF2-40B4-BE49-F238E27FC236}">
                <a16:creationId xmlns:a16="http://schemas.microsoft.com/office/drawing/2014/main" id="{9ACEB0F7-E7ED-43D2-B110-1D585AB44315}"/>
              </a:ext>
            </a:extLst>
          </p:cNvPr>
          <p:cNvGrpSpPr>
            <a:grpSpLocks/>
          </p:cNvGrpSpPr>
          <p:nvPr/>
        </p:nvGrpSpPr>
        <p:grpSpPr bwMode="auto">
          <a:xfrm>
            <a:off x="3321754" y="6140275"/>
            <a:ext cx="250191" cy="367690"/>
            <a:chOff x="748" y="1979"/>
            <a:chExt cx="494" cy="726"/>
          </a:xfrm>
        </p:grpSpPr>
        <p:pic>
          <p:nvPicPr>
            <p:cNvPr id="936" name="Picture 54" descr="Server sm">
              <a:extLst>
                <a:ext uri="{FF2B5EF4-FFF2-40B4-BE49-F238E27FC236}">
                  <a16:creationId xmlns:a16="http://schemas.microsoft.com/office/drawing/2014/main" id="{22186401-7DC9-4DDD-80A8-1D5DCC8A5E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" y="1979"/>
              <a:ext cx="494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7" name="Picture 55" descr="XML Web Service sm">
              <a:extLst>
                <a:ext uri="{FF2B5EF4-FFF2-40B4-BE49-F238E27FC236}">
                  <a16:creationId xmlns:a16="http://schemas.microsoft.com/office/drawing/2014/main" id="{8310816D-1984-43A1-97B5-3AEACACCA9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" y="2432"/>
              <a:ext cx="227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42" name="グループ化 941">
            <a:extLst>
              <a:ext uri="{FF2B5EF4-FFF2-40B4-BE49-F238E27FC236}">
                <a16:creationId xmlns:a16="http://schemas.microsoft.com/office/drawing/2014/main" id="{0F7A70EC-8926-4335-840E-B571E9DA1413}"/>
              </a:ext>
            </a:extLst>
          </p:cNvPr>
          <p:cNvGrpSpPr/>
          <p:nvPr/>
        </p:nvGrpSpPr>
        <p:grpSpPr>
          <a:xfrm>
            <a:off x="635300" y="6159120"/>
            <a:ext cx="323948" cy="343994"/>
            <a:chOff x="7657594" y="2402201"/>
            <a:chExt cx="1104271" cy="1182281"/>
          </a:xfrm>
        </p:grpSpPr>
        <p:pic>
          <p:nvPicPr>
            <p:cNvPr id="940" name="Picture 6" descr="pc-new-sm2">
              <a:extLst>
                <a:ext uri="{FF2B5EF4-FFF2-40B4-BE49-F238E27FC236}">
                  <a16:creationId xmlns:a16="http://schemas.microsoft.com/office/drawing/2014/main" id="{E6EE4308-B3BE-4360-97C9-A17AF665CA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6052" y="2402201"/>
              <a:ext cx="785813" cy="1150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41" name="Picture 25" descr="Bule User sm">
              <a:extLst>
                <a:ext uri="{FF2B5EF4-FFF2-40B4-BE49-F238E27FC236}">
                  <a16:creationId xmlns:a16="http://schemas.microsoft.com/office/drawing/2014/main" id="{B8065F0E-1EF3-4241-B880-EC1EFC6B06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7594" y="2831650"/>
              <a:ext cx="564320" cy="752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943" name="直線コネクタ 942">
            <a:extLst>
              <a:ext uri="{FF2B5EF4-FFF2-40B4-BE49-F238E27FC236}">
                <a16:creationId xmlns:a16="http://schemas.microsoft.com/office/drawing/2014/main" id="{4F4327A5-2834-4917-9BEF-FCE184B9A3EF}"/>
              </a:ext>
            </a:extLst>
          </p:cNvPr>
          <p:cNvCxnSpPr/>
          <p:nvPr/>
        </p:nvCxnSpPr>
        <p:spPr bwMode="auto">
          <a:xfrm>
            <a:off x="600075" y="5939785"/>
            <a:ext cx="8052219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45" name="四角形: 角を丸くする 944">
            <a:extLst>
              <a:ext uri="{FF2B5EF4-FFF2-40B4-BE49-F238E27FC236}">
                <a16:creationId xmlns:a16="http://schemas.microsoft.com/office/drawing/2014/main" id="{54C3CD75-2EA1-4651-93B7-EB4EF76DC7AF}"/>
              </a:ext>
            </a:extLst>
          </p:cNvPr>
          <p:cNvSpPr/>
          <p:nvPr/>
        </p:nvSpPr>
        <p:spPr>
          <a:xfrm>
            <a:off x="589549" y="2079657"/>
            <a:ext cx="791408" cy="158620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700"/>
              <a:t>本番ネットワーク</a:t>
            </a:r>
          </a:p>
        </p:txBody>
      </p:sp>
      <p:sp>
        <p:nvSpPr>
          <p:cNvPr id="946" name="四角形: 角を丸くする 945">
            <a:extLst>
              <a:ext uri="{FF2B5EF4-FFF2-40B4-BE49-F238E27FC236}">
                <a16:creationId xmlns:a16="http://schemas.microsoft.com/office/drawing/2014/main" id="{999285D3-F28F-4072-9166-49E8816A2440}"/>
              </a:ext>
            </a:extLst>
          </p:cNvPr>
          <p:cNvSpPr/>
          <p:nvPr/>
        </p:nvSpPr>
        <p:spPr>
          <a:xfrm>
            <a:off x="589549" y="3965458"/>
            <a:ext cx="791408" cy="158620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700"/>
              <a:t>開発ネットワーク</a:t>
            </a:r>
          </a:p>
        </p:txBody>
      </p:sp>
      <p:sp>
        <p:nvSpPr>
          <p:cNvPr id="947" name="四角形: 角を丸くする 946">
            <a:extLst>
              <a:ext uri="{FF2B5EF4-FFF2-40B4-BE49-F238E27FC236}">
                <a16:creationId xmlns:a16="http://schemas.microsoft.com/office/drawing/2014/main" id="{E6BACDBD-8C0A-4DA8-9BEF-7D49B6480B1C}"/>
              </a:ext>
            </a:extLst>
          </p:cNvPr>
          <p:cNvSpPr/>
          <p:nvPr/>
        </p:nvSpPr>
        <p:spPr>
          <a:xfrm>
            <a:off x="589549" y="6533398"/>
            <a:ext cx="791408" cy="158620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700"/>
              <a:t>24h </a:t>
            </a:r>
            <a:r>
              <a:rPr lang="ja-JP" altLang="en-US" sz="700"/>
              <a:t>統合運用監視</a:t>
            </a:r>
          </a:p>
        </p:txBody>
      </p:sp>
      <p:pic>
        <p:nvPicPr>
          <p:cNvPr id="948" name="Picture 78" descr="図1">
            <a:extLst>
              <a:ext uri="{FF2B5EF4-FFF2-40B4-BE49-F238E27FC236}">
                <a16:creationId xmlns:a16="http://schemas.microsoft.com/office/drawing/2014/main" id="{A29A0938-BADB-4C41-8242-263EC12A9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393" y="6394986"/>
            <a:ext cx="177069" cy="23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9" name="テキスト ボックス 948">
            <a:extLst>
              <a:ext uri="{FF2B5EF4-FFF2-40B4-BE49-F238E27FC236}">
                <a16:creationId xmlns:a16="http://schemas.microsoft.com/office/drawing/2014/main" id="{F25E575E-EB89-4A91-B6D8-F1C1C17F016E}"/>
              </a:ext>
            </a:extLst>
          </p:cNvPr>
          <p:cNvSpPr txBox="1"/>
          <p:nvPr/>
        </p:nvSpPr>
        <p:spPr>
          <a:xfrm>
            <a:off x="3673533" y="6127300"/>
            <a:ext cx="859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 dirty="0"/>
              <a:t>セキュリティ構成</a:t>
            </a:r>
          </a:p>
          <a:p>
            <a:r>
              <a:rPr lang="ja-JP" altLang="en-US" sz="700" dirty="0"/>
              <a:t>チェックツール</a:t>
            </a:r>
          </a:p>
          <a:p>
            <a:r>
              <a:rPr kumimoji="1" lang="ja-JP" altLang="en-US" sz="700" dirty="0"/>
              <a:t>（</a:t>
            </a:r>
            <a:r>
              <a:rPr kumimoji="1" lang="en-US" altLang="ja-JP" sz="700" dirty="0"/>
              <a:t>Azure Security</a:t>
            </a:r>
          </a:p>
          <a:p>
            <a:r>
              <a:rPr lang="en-US" altLang="ja-JP" sz="700" dirty="0"/>
              <a:t> Center / CSPM</a:t>
            </a:r>
            <a:r>
              <a:rPr kumimoji="1" lang="ja-JP" altLang="en-US" sz="700" dirty="0"/>
              <a:t>）</a:t>
            </a:r>
          </a:p>
        </p:txBody>
      </p:sp>
      <p:cxnSp>
        <p:nvCxnSpPr>
          <p:cNvPr id="958" name="直線矢印コネクタ 957">
            <a:extLst>
              <a:ext uri="{FF2B5EF4-FFF2-40B4-BE49-F238E27FC236}">
                <a16:creationId xmlns:a16="http://schemas.microsoft.com/office/drawing/2014/main" id="{ADE49878-ECB1-4DDA-AC11-483FABB37CC7}"/>
              </a:ext>
            </a:extLst>
          </p:cNvPr>
          <p:cNvCxnSpPr>
            <a:stCxn id="936" idx="1"/>
            <a:endCxn id="930" idx="3"/>
          </p:cNvCxnSpPr>
          <p:nvPr/>
        </p:nvCxnSpPr>
        <p:spPr bwMode="auto">
          <a:xfrm flipH="1" flipV="1">
            <a:off x="1838607" y="6323361"/>
            <a:ext cx="1483147" cy="506"/>
          </a:xfrm>
          <a:prstGeom prst="straightConnector1">
            <a:avLst/>
          </a:prstGeom>
          <a:noFill/>
          <a:ln w="19050" cap="flat" cmpd="sng" algn="ctr">
            <a:solidFill>
              <a:srgbClr val="CC0099"/>
            </a:solidFill>
            <a:prstDash val="sysDot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1" name="直線矢印コネクタ 960">
            <a:extLst>
              <a:ext uri="{FF2B5EF4-FFF2-40B4-BE49-F238E27FC236}">
                <a16:creationId xmlns:a16="http://schemas.microsoft.com/office/drawing/2014/main" id="{1E96BCD0-D3D7-4CBF-93A5-AE8DA0A51CE4}"/>
              </a:ext>
            </a:extLst>
          </p:cNvPr>
          <p:cNvCxnSpPr>
            <a:stCxn id="930" idx="1"/>
            <a:endCxn id="940" idx="3"/>
          </p:cNvCxnSpPr>
          <p:nvPr/>
        </p:nvCxnSpPr>
        <p:spPr bwMode="auto">
          <a:xfrm flipH="1">
            <a:off x="959248" y="6323361"/>
            <a:ext cx="629168" cy="3196"/>
          </a:xfrm>
          <a:prstGeom prst="straightConnector1">
            <a:avLst/>
          </a:prstGeom>
          <a:noFill/>
          <a:ln w="19050" cap="flat" cmpd="sng" algn="ctr">
            <a:solidFill>
              <a:srgbClr val="CC0099"/>
            </a:solidFill>
            <a:prstDash val="sysDot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64" name="テキスト ボックス 963">
            <a:extLst>
              <a:ext uri="{FF2B5EF4-FFF2-40B4-BE49-F238E27FC236}">
                <a16:creationId xmlns:a16="http://schemas.microsoft.com/office/drawing/2014/main" id="{F10617D8-49FF-4793-BB68-6A567777867C}"/>
              </a:ext>
            </a:extLst>
          </p:cNvPr>
          <p:cNvSpPr txBox="1"/>
          <p:nvPr/>
        </p:nvSpPr>
        <p:spPr>
          <a:xfrm>
            <a:off x="2201476" y="6326554"/>
            <a:ext cx="6607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/>
              <a:t>アラート通知</a:t>
            </a:r>
          </a:p>
        </p:txBody>
      </p:sp>
      <p:pic>
        <p:nvPicPr>
          <p:cNvPr id="965" name="Picture 62" descr="Tools sm">
            <a:extLst>
              <a:ext uri="{FF2B5EF4-FFF2-40B4-BE49-F238E27FC236}">
                <a16:creationId xmlns:a16="http://schemas.microsoft.com/office/drawing/2014/main" id="{DB86ED73-0FC3-4D2D-BAD5-1B351E4F3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510" y="2381083"/>
            <a:ext cx="184872" cy="276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6" name="Picture 62" descr="Tools sm">
            <a:extLst>
              <a:ext uri="{FF2B5EF4-FFF2-40B4-BE49-F238E27FC236}">
                <a16:creationId xmlns:a16="http://schemas.microsoft.com/office/drawing/2014/main" id="{09CFC7A4-0957-4314-983E-CF37CCE13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510" y="4660370"/>
            <a:ext cx="184872" cy="276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8" name="吹き出し: 角を丸めた四角形 967">
            <a:extLst>
              <a:ext uri="{FF2B5EF4-FFF2-40B4-BE49-F238E27FC236}">
                <a16:creationId xmlns:a16="http://schemas.microsoft.com/office/drawing/2014/main" id="{A4778EFA-C910-4E28-8AC9-644F2F5AE857}"/>
              </a:ext>
            </a:extLst>
          </p:cNvPr>
          <p:cNvSpPr/>
          <p:nvPr/>
        </p:nvSpPr>
        <p:spPr bwMode="auto">
          <a:xfrm>
            <a:off x="4053698" y="1955565"/>
            <a:ext cx="512337" cy="155386"/>
          </a:xfrm>
          <a:prstGeom prst="wedgeRoundRectCallout">
            <a:avLst>
              <a:gd name="adj1" fmla="val 43229"/>
              <a:gd name="adj2" fmla="val 83676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Immutable</a:t>
            </a:r>
          </a:p>
        </p:txBody>
      </p:sp>
      <p:graphicFrame>
        <p:nvGraphicFramePr>
          <p:cNvPr id="970" name="表 969">
            <a:extLst>
              <a:ext uri="{FF2B5EF4-FFF2-40B4-BE49-F238E27FC236}">
                <a16:creationId xmlns:a16="http://schemas.microsoft.com/office/drawing/2014/main" id="{9CE1CF46-8DE4-427D-A0A0-610853CE9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542784"/>
              </p:ext>
            </p:extLst>
          </p:nvPr>
        </p:nvGraphicFramePr>
        <p:xfrm>
          <a:off x="6358614" y="5266091"/>
          <a:ext cx="2656548" cy="1418400"/>
        </p:xfrm>
        <a:graphic>
          <a:graphicData uri="http://schemas.openxmlformats.org/drawingml/2006/table">
            <a:tbl>
              <a:tblPr/>
              <a:tblGrid>
                <a:gridCol w="516252">
                  <a:extLst>
                    <a:ext uri="{9D8B030D-6E8A-4147-A177-3AD203B41FA5}">
                      <a16:colId xmlns:a16="http://schemas.microsoft.com/office/drawing/2014/main" val="638304488"/>
                    </a:ext>
                  </a:extLst>
                </a:gridCol>
                <a:gridCol w="713432">
                  <a:extLst>
                    <a:ext uri="{9D8B030D-6E8A-4147-A177-3AD203B41FA5}">
                      <a16:colId xmlns:a16="http://schemas.microsoft.com/office/drawing/2014/main" val="100137574"/>
                    </a:ext>
                  </a:extLst>
                </a:gridCol>
                <a:gridCol w="713432">
                  <a:extLst>
                    <a:ext uri="{9D8B030D-6E8A-4147-A177-3AD203B41FA5}">
                      <a16:colId xmlns:a16="http://schemas.microsoft.com/office/drawing/2014/main" val="414991869"/>
                    </a:ext>
                  </a:extLst>
                </a:gridCol>
                <a:gridCol w="713432">
                  <a:extLst>
                    <a:ext uri="{9D8B030D-6E8A-4147-A177-3AD203B41FA5}">
                      <a16:colId xmlns:a16="http://schemas.microsoft.com/office/drawing/2014/main" val="2311363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環境分類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本番系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開発系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PoC </a:t>
                      </a:r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環境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567686"/>
                  </a:ext>
                </a:extLst>
              </a:tr>
              <a:tr h="148706"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所属 </a:t>
                      </a:r>
                      <a:r>
                        <a:rPr lang="en-US" altLang="ja-JP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AAD </a:t>
                      </a:r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テナント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本番系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VDC </a:t>
                      </a:r>
                      <a:r>
                        <a:rPr lang="ja-JP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管理用 </a:t>
                      </a:r>
                      <a:r>
                        <a:rPr lang="en-US" altLang="ja-JP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AAD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開発系 </a:t>
                      </a:r>
                      <a:r>
                        <a:rPr lang="en-US" altLang="ja-JP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VDC </a:t>
                      </a:r>
                      <a:r>
                        <a:rPr lang="ja-JP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管理用 </a:t>
                      </a:r>
                      <a:r>
                        <a:rPr lang="en-US" altLang="ja-JP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AAD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PoC</a:t>
                      </a:r>
                      <a:r>
                        <a:rPr lang="en-US" altLang="ja-JP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ja-JP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管理用 </a:t>
                      </a:r>
                      <a:r>
                        <a:rPr lang="en-US" altLang="ja-JP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AAD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420183"/>
                  </a:ext>
                </a:extLst>
              </a:tr>
              <a:tr h="148706"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環境利用者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エンドユーザ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社内アプリ開発チーム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社外インフラ・アプリ開発チーム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01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環境管理者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VDC </a:t>
                      </a:r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基盤担当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VDC </a:t>
                      </a:r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基盤担当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VDC </a:t>
                      </a:r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基盤担当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59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利用目的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本番運用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社内での開発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社外での開発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385844"/>
                  </a:ext>
                </a:extLst>
              </a:tr>
              <a:tr h="148706"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本番データ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利用可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利用可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利用不可（ダミー利用）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098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監査対象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Yes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Yes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No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660039"/>
                  </a:ext>
                </a:extLst>
              </a:tr>
            </a:tbl>
          </a:graphicData>
        </a:graphic>
      </p:graphicFrame>
      <p:sp>
        <p:nvSpPr>
          <p:cNvPr id="971" name="テキスト ボックス 970">
            <a:extLst>
              <a:ext uri="{FF2B5EF4-FFF2-40B4-BE49-F238E27FC236}">
                <a16:creationId xmlns:a16="http://schemas.microsoft.com/office/drawing/2014/main" id="{9C57014D-98F0-4B7B-8270-58D5C4189325}"/>
              </a:ext>
            </a:extLst>
          </p:cNvPr>
          <p:cNvSpPr txBox="1"/>
          <p:nvPr/>
        </p:nvSpPr>
        <p:spPr>
          <a:xfrm>
            <a:off x="1405620" y="6463445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00"/>
              <a:t>統合運用</a:t>
            </a:r>
          </a:p>
          <a:p>
            <a:r>
              <a:rPr lang="ja-JP" altLang="en-US" sz="700"/>
              <a:t>監視システム</a:t>
            </a:r>
            <a:endParaRPr kumimoji="1" lang="ja-JP" altLang="en-US" sz="700"/>
          </a:p>
        </p:txBody>
      </p:sp>
      <p:sp>
        <p:nvSpPr>
          <p:cNvPr id="972" name="吹き出し: 角を丸めた四角形 971">
            <a:extLst>
              <a:ext uri="{FF2B5EF4-FFF2-40B4-BE49-F238E27FC236}">
                <a16:creationId xmlns:a16="http://schemas.microsoft.com/office/drawing/2014/main" id="{251DC43D-A464-496A-A722-488F010A6349}"/>
              </a:ext>
            </a:extLst>
          </p:cNvPr>
          <p:cNvSpPr/>
          <p:nvPr/>
        </p:nvSpPr>
        <p:spPr bwMode="auto">
          <a:xfrm>
            <a:off x="4053698" y="3853958"/>
            <a:ext cx="512337" cy="155386"/>
          </a:xfrm>
          <a:prstGeom prst="wedgeRoundRectCallout">
            <a:avLst>
              <a:gd name="adj1" fmla="val 43229"/>
              <a:gd name="adj2" fmla="val 83676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Immutable</a:t>
            </a:r>
          </a:p>
        </p:txBody>
      </p:sp>
      <p:sp>
        <p:nvSpPr>
          <p:cNvPr id="973" name="吹き出し: 角を丸めた四角形 972">
            <a:extLst>
              <a:ext uri="{FF2B5EF4-FFF2-40B4-BE49-F238E27FC236}">
                <a16:creationId xmlns:a16="http://schemas.microsoft.com/office/drawing/2014/main" id="{07AFEDD6-0F40-4F1B-9430-997063BF32CC}"/>
              </a:ext>
            </a:extLst>
          </p:cNvPr>
          <p:cNvSpPr/>
          <p:nvPr/>
        </p:nvSpPr>
        <p:spPr bwMode="auto">
          <a:xfrm>
            <a:off x="6067083" y="1910762"/>
            <a:ext cx="512337" cy="253191"/>
          </a:xfrm>
          <a:prstGeom prst="wedgeRoundRectCallout">
            <a:avLst>
              <a:gd name="adj1" fmla="val -46009"/>
              <a:gd name="adj2" fmla="val 82414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レビューして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700"/>
              <a:t>持ち込み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74" name="吹き出し: 角を丸めた四角形 973">
            <a:extLst>
              <a:ext uri="{FF2B5EF4-FFF2-40B4-BE49-F238E27FC236}">
                <a16:creationId xmlns:a16="http://schemas.microsoft.com/office/drawing/2014/main" id="{E55DFB56-DC99-426F-9F49-1DDC617148DB}"/>
              </a:ext>
            </a:extLst>
          </p:cNvPr>
          <p:cNvSpPr/>
          <p:nvPr/>
        </p:nvSpPr>
        <p:spPr bwMode="auto">
          <a:xfrm>
            <a:off x="6067083" y="4214014"/>
            <a:ext cx="512337" cy="253191"/>
          </a:xfrm>
          <a:prstGeom prst="wedgeRoundRectCallout">
            <a:avLst>
              <a:gd name="adj1" fmla="val -46009"/>
              <a:gd name="adj2" fmla="val 82414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レビューして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700"/>
              <a:t>持ち込み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75" name="吹き出し: 角を丸めた四角形 974">
            <a:extLst>
              <a:ext uri="{FF2B5EF4-FFF2-40B4-BE49-F238E27FC236}">
                <a16:creationId xmlns:a16="http://schemas.microsoft.com/office/drawing/2014/main" id="{45E6ED80-D899-443C-B414-0183A7CB0D2C}"/>
              </a:ext>
            </a:extLst>
          </p:cNvPr>
          <p:cNvSpPr/>
          <p:nvPr/>
        </p:nvSpPr>
        <p:spPr bwMode="auto">
          <a:xfrm>
            <a:off x="7092721" y="2446872"/>
            <a:ext cx="794501" cy="353704"/>
          </a:xfrm>
          <a:prstGeom prst="wedgeRoundRectCallout">
            <a:avLst>
              <a:gd name="adj1" fmla="val -61210"/>
              <a:gd name="adj2" fmla="val 45831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自由にいじれる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閉域化不要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700"/>
              <a:t>データ持ち込み不可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76" name="吹き出し: 角を丸めた四角形 975">
            <a:extLst>
              <a:ext uri="{FF2B5EF4-FFF2-40B4-BE49-F238E27FC236}">
                <a16:creationId xmlns:a16="http://schemas.microsoft.com/office/drawing/2014/main" id="{91799170-415C-41FA-9696-6F7017D84189}"/>
              </a:ext>
            </a:extLst>
          </p:cNvPr>
          <p:cNvSpPr/>
          <p:nvPr/>
        </p:nvSpPr>
        <p:spPr bwMode="auto">
          <a:xfrm>
            <a:off x="4209616" y="4765939"/>
            <a:ext cx="569534" cy="221124"/>
          </a:xfrm>
          <a:prstGeom prst="wedgeRoundRectCallout">
            <a:avLst>
              <a:gd name="adj1" fmla="val -31894"/>
              <a:gd name="adj2" fmla="val -88302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閉域性維持が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700"/>
              <a:t>必要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77" name="吹き出し: 角を丸めた四角形 976">
            <a:extLst>
              <a:ext uri="{FF2B5EF4-FFF2-40B4-BE49-F238E27FC236}">
                <a16:creationId xmlns:a16="http://schemas.microsoft.com/office/drawing/2014/main" id="{85A15D4E-EC0E-4834-A63B-940FA1FBE2B0}"/>
              </a:ext>
            </a:extLst>
          </p:cNvPr>
          <p:cNvSpPr/>
          <p:nvPr/>
        </p:nvSpPr>
        <p:spPr bwMode="auto">
          <a:xfrm>
            <a:off x="7628927" y="1917919"/>
            <a:ext cx="493563" cy="222999"/>
          </a:xfrm>
          <a:prstGeom prst="wedgeRoundRectCallout">
            <a:avLst>
              <a:gd name="adj1" fmla="val -21292"/>
              <a:gd name="adj2" fmla="val 87250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IaC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700"/>
              <a:t>スクリプト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78" name="吹き出し: 角を丸めた四角形 977">
            <a:extLst>
              <a:ext uri="{FF2B5EF4-FFF2-40B4-BE49-F238E27FC236}">
                <a16:creationId xmlns:a16="http://schemas.microsoft.com/office/drawing/2014/main" id="{EA3A1AC5-04E7-4B79-9F47-2386217B09F6}"/>
              </a:ext>
            </a:extLst>
          </p:cNvPr>
          <p:cNvSpPr/>
          <p:nvPr/>
        </p:nvSpPr>
        <p:spPr bwMode="auto">
          <a:xfrm>
            <a:off x="2944694" y="3301544"/>
            <a:ext cx="512337" cy="253191"/>
          </a:xfrm>
          <a:prstGeom prst="wedgeRoundRectCallout">
            <a:avLst>
              <a:gd name="adj1" fmla="val 43229"/>
              <a:gd name="adj2" fmla="val 72192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レビューして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700"/>
              <a:t>持ち込み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79" name="吹き出し: 角を丸めた四角形 978">
            <a:extLst>
              <a:ext uri="{FF2B5EF4-FFF2-40B4-BE49-F238E27FC236}">
                <a16:creationId xmlns:a16="http://schemas.microsoft.com/office/drawing/2014/main" id="{96E527A0-7325-4519-B9C6-F8D197C198B3}"/>
              </a:ext>
            </a:extLst>
          </p:cNvPr>
          <p:cNvSpPr/>
          <p:nvPr/>
        </p:nvSpPr>
        <p:spPr bwMode="auto">
          <a:xfrm>
            <a:off x="4545042" y="6190568"/>
            <a:ext cx="891109" cy="350785"/>
          </a:xfrm>
          <a:prstGeom prst="wedgeRoundRectCallout">
            <a:avLst>
              <a:gd name="adj1" fmla="val -61163"/>
              <a:gd name="adj2" fmla="val -30021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セキュリティ構成が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700"/>
              <a:t>維持されていることを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チェック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80" name="吹き出し: 角を丸めた四角形 979">
            <a:extLst>
              <a:ext uri="{FF2B5EF4-FFF2-40B4-BE49-F238E27FC236}">
                <a16:creationId xmlns:a16="http://schemas.microsoft.com/office/drawing/2014/main" id="{6E32FBFA-A96F-49A9-BD5F-86CF0095B691}"/>
              </a:ext>
            </a:extLst>
          </p:cNvPr>
          <p:cNvSpPr/>
          <p:nvPr/>
        </p:nvSpPr>
        <p:spPr bwMode="auto">
          <a:xfrm>
            <a:off x="7925361" y="4017535"/>
            <a:ext cx="891109" cy="350785"/>
          </a:xfrm>
          <a:prstGeom prst="wedgeRoundRectCallout">
            <a:avLst>
              <a:gd name="adj1" fmla="val -7920"/>
              <a:gd name="adj2" fmla="val 85560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アプリ開発パターン①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700"/>
              <a:t>社外 </a:t>
            </a:r>
            <a:r>
              <a:rPr lang="en-US" altLang="ja-JP" sz="700"/>
              <a:t>SIer </a:t>
            </a:r>
            <a:r>
              <a:rPr lang="ja-JP" altLang="en-US" sz="700"/>
              <a:t>が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社外で開発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81" name="吹き出し: 角を丸めた四角形 980">
            <a:extLst>
              <a:ext uri="{FF2B5EF4-FFF2-40B4-BE49-F238E27FC236}">
                <a16:creationId xmlns:a16="http://schemas.microsoft.com/office/drawing/2014/main" id="{B425552E-415A-4D85-AB7D-B0AF6A311F42}"/>
              </a:ext>
            </a:extLst>
          </p:cNvPr>
          <p:cNvSpPr/>
          <p:nvPr/>
        </p:nvSpPr>
        <p:spPr bwMode="auto">
          <a:xfrm>
            <a:off x="315773" y="5004469"/>
            <a:ext cx="891109" cy="243882"/>
          </a:xfrm>
          <a:prstGeom prst="wedgeRoundRectCallout">
            <a:avLst>
              <a:gd name="adj1" fmla="val -15664"/>
              <a:gd name="adj2" fmla="val 89097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アプリ開発パターン②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常駐型・閉域での開発</a:t>
            </a:r>
            <a:endParaRPr kumimoji="1" lang="en-US" altLang="ja-JP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pic>
        <p:nvPicPr>
          <p:cNvPr id="983" name="Picture 62" descr="Tools sm">
            <a:extLst>
              <a:ext uri="{FF2B5EF4-FFF2-40B4-BE49-F238E27FC236}">
                <a16:creationId xmlns:a16="http://schemas.microsoft.com/office/drawing/2014/main" id="{4EB4D84A-DCB1-46C7-B530-C1E9F5F44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419" y="3670863"/>
            <a:ext cx="184872" cy="276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7" name="吹き出し: 角を丸めた四角形 986">
            <a:extLst>
              <a:ext uri="{FF2B5EF4-FFF2-40B4-BE49-F238E27FC236}">
                <a16:creationId xmlns:a16="http://schemas.microsoft.com/office/drawing/2014/main" id="{E57184DE-1E45-463C-9620-9EE58C50CD6F}"/>
              </a:ext>
            </a:extLst>
          </p:cNvPr>
          <p:cNvSpPr/>
          <p:nvPr/>
        </p:nvSpPr>
        <p:spPr bwMode="auto">
          <a:xfrm>
            <a:off x="5149180" y="6526609"/>
            <a:ext cx="585962" cy="245432"/>
          </a:xfrm>
          <a:prstGeom prst="wedgeRoundRectCallout">
            <a:avLst>
              <a:gd name="adj1" fmla="val -43497"/>
              <a:gd name="adj2" fmla="val -82743"/>
              <a:gd name="adj3" fmla="val 16667"/>
            </a:avLst>
          </a:prstGeom>
          <a:solidFill>
            <a:srgbClr val="CCFFCC"/>
          </a:solidFill>
          <a:ln w="63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700"/>
              <a:t>インフラ</a:t>
            </a: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構成を</a:t>
            </a:r>
            <a:endParaRPr lang="ja-JP" altLang="en-US" sz="70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監査</a:t>
            </a:r>
          </a:p>
        </p:txBody>
      </p:sp>
      <p:sp>
        <p:nvSpPr>
          <p:cNvPr id="988" name="四角形: 角を丸くする 987">
            <a:extLst>
              <a:ext uri="{FF2B5EF4-FFF2-40B4-BE49-F238E27FC236}">
                <a16:creationId xmlns:a16="http://schemas.microsoft.com/office/drawing/2014/main" id="{D5DD8AEA-C35F-4C5B-ADF0-1CED2ECA1388}"/>
              </a:ext>
            </a:extLst>
          </p:cNvPr>
          <p:cNvSpPr/>
          <p:nvPr/>
        </p:nvSpPr>
        <p:spPr bwMode="auto">
          <a:xfrm>
            <a:off x="4765065" y="105691"/>
            <a:ext cx="1215847" cy="355835"/>
          </a:xfrm>
          <a:prstGeom prst="roundRect">
            <a:avLst/>
          </a:prstGeom>
          <a:solidFill>
            <a:srgbClr val="CCFFFF"/>
          </a:solidFill>
          <a:ln w="19050" cap="flat" cmpd="sng" algn="ctr">
            <a:solidFill>
              <a:schemeClr val="bg2">
                <a:lumMod val="7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アプリ（コード）</a:t>
            </a:r>
            <a:r>
              <a:rPr lang="ja-JP" altLang="en-US" sz="800"/>
              <a:t>の</a:t>
            </a:r>
          </a:p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セキュリティチェック</a:t>
            </a:r>
          </a:p>
        </p:txBody>
      </p:sp>
      <p:sp>
        <p:nvSpPr>
          <p:cNvPr id="989" name="四角形: 角を丸くする 988">
            <a:extLst>
              <a:ext uri="{FF2B5EF4-FFF2-40B4-BE49-F238E27FC236}">
                <a16:creationId xmlns:a16="http://schemas.microsoft.com/office/drawing/2014/main" id="{3C66EEE4-DC96-453E-8770-785FCE489F53}"/>
              </a:ext>
            </a:extLst>
          </p:cNvPr>
          <p:cNvSpPr/>
          <p:nvPr/>
        </p:nvSpPr>
        <p:spPr bwMode="auto">
          <a:xfrm>
            <a:off x="3466855" y="107630"/>
            <a:ext cx="1215847" cy="349680"/>
          </a:xfrm>
          <a:prstGeom prst="roundRect">
            <a:avLst/>
          </a:prstGeom>
          <a:solidFill>
            <a:srgbClr val="FFEBFF"/>
          </a:solidFill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インフラ（基盤）の</a:t>
            </a:r>
          </a:p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800"/>
              <a:t>セキュリティチェック</a:t>
            </a:r>
            <a:endParaRPr kumimoji="1" lang="ja-JP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pic>
        <p:nvPicPr>
          <p:cNvPr id="990" name="Picture 78" descr="図1">
            <a:extLst>
              <a:ext uri="{FF2B5EF4-FFF2-40B4-BE49-F238E27FC236}">
                <a16:creationId xmlns:a16="http://schemas.microsoft.com/office/drawing/2014/main" id="{219ACE6E-3F45-4D71-898B-84B0485C1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776" y="151002"/>
            <a:ext cx="104628" cy="139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1" name="Picture 78" descr="図1">
            <a:extLst>
              <a:ext uri="{FF2B5EF4-FFF2-40B4-BE49-F238E27FC236}">
                <a16:creationId xmlns:a16="http://schemas.microsoft.com/office/drawing/2014/main" id="{9D235519-F584-4DE6-AEBA-CED052F01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005" y="151002"/>
            <a:ext cx="104628" cy="139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2" name="Picture 62" descr="Tools sm">
            <a:extLst>
              <a:ext uri="{FF2B5EF4-FFF2-40B4-BE49-F238E27FC236}">
                <a16:creationId xmlns:a16="http://schemas.microsoft.com/office/drawing/2014/main" id="{59B0FB4A-3C79-4F14-AE5C-AA9321E5F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872" y="244773"/>
            <a:ext cx="104628" cy="15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" name="Picture 62" descr="Tools sm">
            <a:extLst>
              <a:ext uri="{FF2B5EF4-FFF2-40B4-BE49-F238E27FC236}">
                <a16:creationId xmlns:a16="http://schemas.microsoft.com/office/drawing/2014/main" id="{0F54ECE3-C379-43C4-89D2-B65B5850F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064" y="244773"/>
            <a:ext cx="104628" cy="15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7" name="図 226">
            <a:extLst>
              <a:ext uri="{FF2B5EF4-FFF2-40B4-BE49-F238E27FC236}">
                <a16:creationId xmlns:a16="http://schemas.microsoft.com/office/drawing/2014/main" id="{982A5CA5-089E-4A8F-90F3-3D6CF2D5B7F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CC0099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428487" y="1665584"/>
            <a:ext cx="165660" cy="139932"/>
          </a:xfrm>
          <a:prstGeom prst="rect">
            <a:avLst/>
          </a:prstGeom>
        </p:spPr>
      </p:pic>
      <p:pic>
        <p:nvPicPr>
          <p:cNvPr id="228" name="図 227">
            <a:extLst>
              <a:ext uri="{FF2B5EF4-FFF2-40B4-BE49-F238E27FC236}">
                <a16:creationId xmlns:a16="http://schemas.microsoft.com/office/drawing/2014/main" id="{D5367011-C62F-44D9-9CFA-D316F2DBD0C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645972" y="1665307"/>
            <a:ext cx="165660" cy="139932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D3BFAF7-50C4-4F85-96F5-D070787B2651}"/>
              </a:ext>
            </a:extLst>
          </p:cNvPr>
          <p:cNvSpPr/>
          <p:nvPr/>
        </p:nvSpPr>
        <p:spPr bwMode="auto">
          <a:xfrm>
            <a:off x="6156220" y="19050"/>
            <a:ext cx="2660250" cy="92263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pic>
        <p:nvPicPr>
          <p:cNvPr id="5" name="Picture 26" descr="Yellow User sm">
            <a:extLst>
              <a:ext uri="{FF2B5EF4-FFF2-40B4-BE49-F238E27FC236}">
                <a16:creationId xmlns:a16="http://schemas.microsoft.com/office/drawing/2014/main" id="{FE05F76B-258B-4E79-B20A-05614320C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221" y="418289"/>
            <a:ext cx="127871" cy="17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8" descr="図1">
            <a:extLst>
              <a:ext uri="{FF2B5EF4-FFF2-40B4-BE49-F238E27FC236}">
                <a16:creationId xmlns:a16="http://schemas.microsoft.com/office/drawing/2014/main" id="{DB5656CC-6F6D-45D9-8CC6-27164953F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bg2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351" y="280395"/>
            <a:ext cx="127871" cy="17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5" descr="Bule User sm">
            <a:extLst>
              <a:ext uri="{FF2B5EF4-FFF2-40B4-BE49-F238E27FC236}">
                <a16:creationId xmlns:a16="http://schemas.microsoft.com/office/drawing/2014/main" id="{BD457CC9-EB4D-4D13-B320-A9939250D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351" y="583716"/>
            <a:ext cx="128703" cy="171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0" descr="user group_s">
            <a:extLst>
              <a:ext uri="{FF2B5EF4-FFF2-40B4-BE49-F238E27FC236}">
                <a16:creationId xmlns:a16="http://schemas.microsoft.com/office/drawing/2014/main" id="{E57CA1E7-E3F0-4314-9874-4C24CE29A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724" y="44027"/>
            <a:ext cx="310008" cy="279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EFC7B0-C4EB-4157-B173-CADB92C99D08}"/>
              </a:ext>
            </a:extLst>
          </p:cNvPr>
          <p:cNvSpPr txBox="1"/>
          <p:nvPr/>
        </p:nvSpPr>
        <p:spPr>
          <a:xfrm>
            <a:off x="6573974" y="76465"/>
            <a:ext cx="737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/>
              <a:t>エンドユーザ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0384E3E-EB8E-446D-9FBC-A560F55A19F0}"/>
              </a:ext>
            </a:extLst>
          </p:cNvPr>
          <p:cNvSpPr txBox="1"/>
          <p:nvPr/>
        </p:nvSpPr>
        <p:spPr>
          <a:xfrm>
            <a:off x="6573974" y="336921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/>
              <a:t>VDC </a:t>
            </a:r>
            <a:r>
              <a:rPr kumimoji="1" lang="ja-JP" altLang="en-US" sz="800"/>
              <a:t>基盤担当</a:t>
            </a:r>
            <a:endParaRPr kumimoji="1" lang="en-US" altLang="ja-JP" sz="800"/>
          </a:p>
          <a:p>
            <a:r>
              <a:rPr lang="ja-JP" altLang="en-US" sz="800"/>
              <a:t>（システム </a:t>
            </a:r>
            <a:r>
              <a:rPr lang="en-US" altLang="ja-JP" sz="800"/>
              <a:t>ID</a:t>
            </a:r>
            <a:r>
              <a:rPr lang="ja-JP" altLang="en-US" sz="800"/>
              <a:t>）</a:t>
            </a:r>
            <a:endParaRPr kumimoji="1" lang="ja-JP" altLang="en-US" sz="8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8CF9FCD-48E9-42B8-ADA9-876A3FD56100}"/>
              </a:ext>
            </a:extLst>
          </p:cNvPr>
          <p:cNvSpPr txBox="1"/>
          <p:nvPr/>
        </p:nvSpPr>
        <p:spPr>
          <a:xfrm>
            <a:off x="7888938" y="24951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/>
              <a:t>社内開発者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2655451-4AC8-4330-AD6A-58037963D7B0}"/>
              </a:ext>
            </a:extLst>
          </p:cNvPr>
          <p:cNvSpPr txBox="1"/>
          <p:nvPr/>
        </p:nvSpPr>
        <p:spPr>
          <a:xfrm>
            <a:off x="7888938" y="563308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/>
              <a:t>社外開発者</a:t>
            </a:r>
          </a:p>
        </p:txBody>
      </p:sp>
      <p:pic>
        <p:nvPicPr>
          <p:cNvPr id="13" name="Picture 78" descr="図1">
            <a:extLst>
              <a:ext uri="{FF2B5EF4-FFF2-40B4-BE49-F238E27FC236}">
                <a16:creationId xmlns:a16="http://schemas.microsoft.com/office/drawing/2014/main" id="{91C3DA26-3021-449A-BCBF-927A095D0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505" y="739697"/>
            <a:ext cx="127871" cy="17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F56B0AF-1427-4420-BC59-6B5DBAFDAED2}"/>
              </a:ext>
            </a:extLst>
          </p:cNvPr>
          <p:cNvSpPr txBox="1"/>
          <p:nvPr/>
        </p:nvSpPr>
        <p:spPr>
          <a:xfrm>
            <a:off x="6575432" y="663094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/>
              <a:t>情報セキュリティ担当</a:t>
            </a:r>
            <a:endParaRPr lang="en-US" altLang="ja-JP" sz="800"/>
          </a:p>
          <a:p>
            <a:r>
              <a:rPr kumimoji="1" lang="ja-JP" altLang="en-US" sz="800"/>
              <a:t>（承認者）</a:t>
            </a:r>
          </a:p>
        </p:txBody>
      </p:sp>
      <p:cxnSp>
        <p:nvCxnSpPr>
          <p:cNvPr id="256" name="直線矢印コネクタ 255">
            <a:extLst>
              <a:ext uri="{FF2B5EF4-FFF2-40B4-BE49-F238E27FC236}">
                <a16:creationId xmlns:a16="http://schemas.microsoft.com/office/drawing/2014/main" id="{B6266D10-46C7-41F5-B6EE-E1CF9C62C132}"/>
              </a:ext>
            </a:extLst>
          </p:cNvPr>
          <p:cNvCxnSpPr>
            <a:stCxn id="936" idx="0"/>
            <a:endCxn id="250" idx="2"/>
          </p:cNvCxnSpPr>
          <p:nvPr/>
        </p:nvCxnSpPr>
        <p:spPr bwMode="auto">
          <a:xfrm flipH="1" flipV="1">
            <a:off x="2433475" y="3970310"/>
            <a:ext cx="1013375" cy="2169965"/>
          </a:xfrm>
          <a:prstGeom prst="straightConnector1">
            <a:avLst/>
          </a:prstGeom>
          <a:noFill/>
          <a:ln w="19050" cap="flat" cmpd="sng" algn="ctr">
            <a:solidFill>
              <a:srgbClr val="CC0099"/>
            </a:solidFill>
            <a:prstDash val="sysDot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>
                        <a:gamma/>
                        <a:tint val="33725"/>
                        <a:invGamma/>
                      </a:srgbClr>
                    </a:gs>
                    <a:gs pos="50000">
                      <a:srgbClr val="99CCFF"/>
                    </a:gs>
                    <a:gs pos="100000">
                      <a:srgbClr val="99CCFF">
                        <a:gamma/>
                        <a:tint val="3372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AutoShape 18">
            <a:extLst>
              <a:ext uri="{FF2B5EF4-FFF2-40B4-BE49-F238E27FC236}">
                <a16:creationId xmlns:a16="http://schemas.microsoft.com/office/drawing/2014/main" id="{52F6F74F-5D62-4156-99B6-0B3E6C40A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22" y="189806"/>
            <a:ext cx="2607130" cy="246221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BFFDD"/>
              </a:gs>
              <a:gs pos="50000">
                <a:srgbClr val="66FF99"/>
              </a:gs>
              <a:gs pos="100000">
                <a:srgbClr val="CBFFDD"/>
              </a:gs>
            </a:gsLst>
            <a:lin ang="2700000" scaled="1"/>
          </a:gradFill>
          <a:ln w="9525">
            <a:solidFill>
              <a:srgbClr val="0080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r>
              <a:rPr lang="ja-JP" altLang="en-US" sz="1200" dirty="0"/>
              <a:t>より精緻化した作業ワークフローの例</a:t>
            </a:r>
          </a:p>
        </p:txBody>
      </p:sp>
    </p:spTree>
    <p:extLst>
      <p:ext uri="{BB962C8B-B14F-4D97-AF65-F5344CB8AC3E}">
        <p14:creationId xmlns:p14="http://schemas.microsoft.com/office/powerpoint/2010/main" val="300859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gradFill rotWithShape="1">
                <a:gsLst>
                  <a:gs pos="0">
                    <a:srgbClr val="99CCFF">
                      <a:gamma/>
                      <a:tint val="3372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tint val="33725"/>
                      <a:invGamma/>
                    </a:srgbClr>
                  </a:gs>
                </a:gsLst>
                <a:lin ang="2700000" scaled="1"/>
              </a:gra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gradFill rotWithShape="1">
                <a:gsLst>
                  <a:gs pos="0">
                    <a:srgbClr val="99CCFF">
                      <a:gamma/>
                      <a:tint val="3372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tint val="33725"/>
                      <a:invGamma/>
                    </a:srgbClr>
                  </a:gs>
                </a:gsLst>
                <a:lin ang="2700000" scaled="1"/>
              </a:gra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5-50109_Microsoft_Dark_Template">
  <a:themeElements>
    <a:clrScheme name="Microsoft 2017 Dark">
      <a:dk1>
        <a:srgbClr val="353535"/>
      </a:dk1>
      <a:lt1>
        <a:srgbClr val="FFFFFF"/>
      </a:lt1>
      <a:dk2>
        <a:srgbClr val="D83B01"/>
      </a:dk2>
      <a:lt2>
        <a:srgbClr val="CDF4FF"/>
      </a:lt2>
      <a:accent1>
        <a:srgbClr val="D83B01"/>
      </a:accent1>
      <a:accent2>
        <a:srgbClr val="FF8C00"/>
      </a:accent2>
      <a:accent3>
        <a:srgbClr val="FFB900"/>
      </a:accent3>
      <a:accent4>
        <a:srgbClr val="00BCF2"/>
      </a:accent4>
      <a:accent5>
        <a:srgbClr val="D2D2D2"/>
      </a:accent5>
      <a:accent6>
        <a:srgbClr val="737373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2017_16x9_Template.potx" id="{2A99AE01-A11F-4F2C-9BCC-4E42F4CE769C}" vid="{7C638A3A-D771-4183-8214-2AFBE384714F}"/>
    </a:ext>
  </a:extLst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55360</TotalTime>
  <Words>637</Words>
  <Application>Microsoft Office PowerPoint</Application>
  <PresentationFormat>画面に合わせる (4:3)</PresentationFormat>
  <Paragraphs>127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12" baseType="lpstr">
      <vt:lpstr>ＭＳ ゴシック</vt:lpstr>
      <vt:lpstr>Arial</vt:lpstr>
      <vt:lpstr>Arial Black</vt:lpstr>
      <vt:lpstr>Consolas</vt:lpstr>
      <vt:lpstr>Segoe UI</vt:lpstr>
      <vt:lpstr>Segoe UI Light</vt:lpstr>
      <vt:lpstr>Segoe UI Semilight</vt:lpstr>
      <vt:lpstr>Times New Roman</vt:lpstr>
      <vt:lpstr>Wingdings</vt:lpstr>
      <vt:lpstr>1_Pixel</vt:lpstr>
      <vt:lpstr>1_5-50109_Microsoft_Dark_Template</vt:lpstr>
      <vt:lpstr>2. 本番環境／開発環境／PoC 環境の 3 環境の準備</vt:lpstr>
    </vt:vector>
  </TitlesOfParts>
  <Manager/>
  <Company>Microsoft Consulting Services Japan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Azure閉域構成仮想ネットワークリファレンスアーキテクチャ</dc:title>
  <dc:subject>#301 Web Forms Application Development Basis</dc:subject>
  <dc:creator>nakama</dc:creator>
  <dc:description>ASP.NET / ADO.NET により提供される、新しいアプリケーション開発フレームワークの理解、ならびにそれによる簡単なデータベース参照プログラムの作成</dc:description>
  <cp:lastModifiedBy>Kazuki Ota</cp:lastModifiedBy>
  <cp:revision>3344</cp:revision>
  <cp:lastPrinted>2018-12-26T06:34:55Z</cp:lastPrinted>
  <dcterms:created xsi:type="dcterms:W3CDTF">1601-01-01T00:00:00Z</dcterms:created>
  <dcterms:modified xsi:type="dcterms:W3CDTF">2026-02-19T07:37:59Z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Alias">
    <vt:lpwstr>nakama</vt:lpwstr>
  </property>
  <property fmtid="{D5CDD505-2E9C-101B-9397-08002B2CF9AE}" pid="3" name="OwnerDept">
    <vt:lpwstr>KKMCS</vt:lpwstr>
  </property>
  <property fmtid="{D5CDD505-2E9C-101B-9397-08002B2CF9AE}" pid="4" name="セキュリティ">
    <vt:lpwstr>Public</vt:lpwstr>
  </property>
  <property fmtid="{D5CDD505-2E9C-101B-9397-08002B2CF9AE}" pid="5" name="MSIP_Label_f42aa342-8706-4288-bd11-ebb85995028c_Enabled">
    <vt:lpwstr>True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Owner">
    <vt:lpwstr>nakama@microsoft.com</vt:lpwstr>
  </property>
  <property fmtid="{D5CDD505-2E9C-101B-9397-08002B2CF9AE}" pid="8" name="MSIP_Label_f42aa342-8706-4288-bd11-ebb85995028c_SetDate">
    <vt:lpwstr>2017-12-02T14:43:31.8197665Z</vt:lpwstr>
  </property>
  <property fmtid="{D5CDD505-2E9C-101B-9397-08002B2CF9AE}" pid="9" name="MSIP_Label_f42aa342-8706-4288-bd11-ebb85995028c_Name">
    <vt:lpwstr>General</vt:lpwstr>
  </property>
  <property fmtid="{D5CDD505-2E9C-101B-9397-08002B2CF9AE}" pid="10" name="MSIP_Label_f42aa342-8706-4288-bd11-ebb85995028c_Application">
    <vt:lpwstr>Microsoft Azure Information Protection</vt:lpwstr>
  </property>
  <property fmtid="{D5CDD505-2E9C-101B-9397-08002B2CF9AE}" pid="11" name="MSIP_Label_f42aa342-8706-4288-bd11-ebb85995028c_Extended_MSFT_Method">
    <vt:lpwstr>Automatic</vt:lpwstr>
  </property>
  <property fmtid="{D5CDD505-2E9C-101B-9397-08002B2CF9AE}" pid="12" name="Sensitivity">
    <vt:lpwstr>General</vt:lpwstr>
  </property>
</Properties>
</file>